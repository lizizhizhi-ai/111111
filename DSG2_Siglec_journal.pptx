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tiff" ContentType="image/tif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58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7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CN"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肠上皮由桥粒、紧密连接和黏附连接共同维持完整性，并通过分泌物参与免疫调节。屏障受损后，肠腔抗原及炎症刺激更易进入黏膜，促进局部免疫细胞活化。[1]</a:t>
            </a:r>
          </a:p>
          <a:p>
            <a:pPr/>
            <a:endParaRPr lang="en-US" dirty="0"/>
          </a:p>
          <a:p>
            <a:pPr/>
            <a:r>
              <a:rPr lang="zh-CN" dirty="0"/>
              <a:t>持续炎症又可损伤上皮，使屏障障碍与免疫失衡相互促进。本研究拟从上皮连接分子DSG2入手，结合巨噬细胞炎症反应，探讨上皮状态改变与黏膜免疫调节之间的联系。</a:t>
            </a:r>
          </a:p>
          <a:p>
            <a:pPr/>
            <a:endParaRPr lang="en-US" dirty="0"/>
          </a:p>
          <a:p>
            <a:pPr/>
            <a:r>
              <a:rPr lang="zh-CN" dirty="0"/>
              <a:t>下面先介绍上皮端的连接分子DSG2。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DSG2（desmoglein 2）是桥粒钙黏蛋白家族的跨膜糖蛋白。其胞外区域参与细胞间黏附，胞内区域通过桥粒蛋白与骨架相连，维持上皮结构稳定。[2–4]已有研究表明，DSG2还参与屏障修复及相关信号调节。炎症可改变其表达、膜定位与剪切状态，因此需结合蛋白检测和功能实验评价其作用。[3,5,6]</a:t>
            </a:r>
          </a:p>
          <a:p>
            <a:pPr/>
            <a:endParaRPr lang="en-US" dirty="0"/>
          </a:p>
          <a:p>
            <a:pPr/>
            <a:r>
              <a:rPr lang="zh-CN" dirty="0"/>
              <a:t>为观察上皮变化对免疫细胞的影响，本研究采用条件培养基转移。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条件培养基（conditioned medium，CM）是细胞培养一定时间后收集的培养上清，可含细胞释放的蛋白、代谢物及细胞外囊泡。将其转移至另一类细胞，可评价上皮来源物质对免疫细胞的影响，是研究细胞间非直接接触作用的一种方法。[12]</a:t>
            </a:r>
          </a:p>
          <a:p>
            <a:pPr/>
            <a:endParaRPr lang="en-US" dirty="0"/>
          </a:p>
          <a:p>
            <a:pPr/>
            <a:r>
              <a:rPr lang="zh-CN" dirty="0"/>
              <a:t>与同时共培养相比，CM转移便于分别处理上皮细胞与巨噬细胞，观察两端的作用。CM效应也可能受到营养消耗、酸碱度及处理物残留的影响，故需设置相应对照，不能将其直接归因于某一种分泌因子。本研究采用Caco-2来源CM作用于RAW264.7，并验证培养条件的适用性。</a:t>
            </a:r>
          </a:p>
          <a:p>
            <a:pPr/>
            <a:endParaRPr lang="en-US" dirty="0"/>
          </a:p>
          <a:p>
            <a:pPr/>
            <a:r>
              <a:rPr lang="zh-CN" dirty="0"/>
              <a:t>接收细胞中重点关注的候选受体是Siglec-E，接下来说明其所属家族及研究背景。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Siglec是唾液酸结合免疫球蛋白样凝集素，能够识别糖蛋白或糖脂上的唾液酸糖链。部分抑制性成员在髓系细胞表达，参与免疫应答的调节。[7]</a:t>
            </a:r>
          </a:p>
          <a:p>
            <a:pPr/>
            <a:endParaRPr lang="en-US" dirty="0"/>
          </a:p>
          <a:p>
            <a:pPr/>
            <a:r>
              <a:rPr lang="zh-CN" dirty="0"/>
              <a:t>人Siglec-9与鼠Siglec-E具有部分相似功能，但配体识别及作用背景仍需分别验证。Siglec-E可募集SHP-1/2。[8]本研究以鼠源细胞中的Siglec-E为候选受体，通过敲低和恢复表达判断其是否参与CM效应。</a:t>
            </a:r>
          </a:p>
          <a:p>
            <a:pPr/>
            <a:endParaRPr lang="en-US" dirty="0"/>
          </a:p>
          <a:p>
            <a:pPr/>
            <a:r>
              <a:rPr lang="zh-CN" dirty="0"/>
              <a:t>明确研究对象和模型后，下面依次说明选择这些实验的文献依据。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文献在阻断DSG2胞外黏附后，观察到上皮单层通透性升高，并伴随电阻降低及连接蛋白定位改变，说明DSG2对维持屏障完整性具有功能作用。[2]</a:t>
            </a:r>
          </a:p>
          <a:p>
            <a:pPr/>
            <a:endParaRPr lang="en-US" dirty="0"/>
          </a:p>
          <a:p>
            <a:pPr/>
            <a:r>
              <a:rPr lang="zh-CN" dirty="0"/>
              <a:t>结合DSG2缺失及屏障重建研究，现有证据支持将DSG2作为上皮端的研究分子。[3,4]本研究拟检测DSG2及连接蛋白，并结合必要的定位、通透性或电阻测定，评价上皮状态变化。</a:t>
            </a:r>
          </a:p>
          <a:p>
            <a:pPr/>
            <a:endParaRPr lang="en-US" dirty="0"/>
          </a:p>
          <a:p>
            <a:pPr/>
            <a:r>
              <a:rPr lang="zh-CN" dirty="0"/>
              <a:t>DSG2还可能发生剪切和脱落，这为研究培养上清提供了线索。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DSG2胞内剪切与胞外脱落是不同过程，分别与细胞凋亡敏感性及屏障受损有关。[5,6]前者主要检测细胞裂解液，后者需检测培养上清，并结合抗体识别部位确认条带身份。这些结果为研究DSG2与上清组成的联系提供依据，但尚不能确认哪一种成分介导CM效应。本研究拟在CM功能及DSG2作用得到支持后，进一步开展裂解液与上清的配对分析。</a:t>
            </a:r>
          </a:p>
          <a:p>
            <a:pPr/>
            <a:endParaRPr lang="en-US" dirty="0"/>
          </a:p>
          <a:p>
            <a:pPr/>
            <a:r>
              <a:rPr lang="zh-CN" dirty="0"/>
              <a:t>关于DSG2与Siglec是否存在识别关系，已有研究给出了人Siglec-9的直接证据。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图B、C中，DSG2敲低后结合能力降低，恢复表达后回升。图D及胞外域实验支持两者相互作用；糖链处理与5Q突变使结合减弱，提示糖基化参与DSG2–Siglec-9识别。[11]</a:t>
            </a:r>
          </a:p>
          <a:p>
            <a:pPr/>
            <a:endParaRPr lang="en-US" dirty="0"/>
          </a:p>
          <a:p>
            <a:pPr/>
            <a:r>
              <a:rPr lang="zh-CN" dirty="0"/>
              <a:t>上述证据来自肿瘤研究体系与人源Siglec-9，不能直接推及肠上皮CM及鼠Siglec-E。本研究拟借鉴敲低与恢复表达的验证方法，先明确两端分子是否参与CM介导的功能变化。</a:t>
            </a:r>
          </a:p>
          <a:p>
            <a:pPr/>
            <a:endParaRPr lang="en-US" dirty="0"/>
          </a:p>
          <a:p>
            <a:pPr/>
            <a:r>
              <a:rPr lang="zh-CN" dirty="0"/>
              <a:t>接下来结合炎症相关研究，确定应检测哪些信号和功能指标。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图A、B显示外源可溶性Siglec-9可影响炎症因子及iNOS表达；图C提示NF-κB相关磷酸化信号发生变化。[20]部分比较未达到统计学显著，说明作用随剂量和指标而异。</a:t>
            </a:r>
          </a:p>
          <a:p>
            <a:pPr/>
            <a:endParaRPr lang="en-US" dirty="0"/>
          </a:p>
          <a:p>
            <a:pPr/>
            <a:r>
              <a:rPr lang="zh-CN" dirty="0"/>
              <a:t>本研究拟联合检测p-p65/总p65与TNF-α、IL-6，将信号变化与炎症反应相互印证。外源可溶性Siglec-9不同于细胞内源Siglec-E；后者是否参与作用，仍需结合敲低和救援验证。[18]</a:t>
            </a:r>
          </a:p>
          <a:p>
            <a:pPr/>
            <a:endParaRPr lang="en-US" dirty="0"/>
          </a:p>
          <a:p>
            <a:pPr/>
            <a:r>
              <a:rPr lang="zh-CN" dirty="0"/>
              <a:t>除了分子与指标依据，还需要确认用上皮培养上清处理巨噬细胞是否有实验先例。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Kristek等采用CMT-93来源CM处理J774A.1，观察到巨噬细胞表型及刺激应答改变，支持上皮来源可转移物质具有免疫调节作用。[12] Tanoue等建立Caco-2与RAW264.7共培养模型，为两种细胞配对研究屏障与炎症提供依据。[14] 两项研究分别支持CM方法和细胞组合；本研究仍需先确认培养条件相容、细胞活性良好且CM效应稳定，再进行两端分子干预。</a:t>
            </a:r>
          </a:p>
          <a:p>
            <a:pPr/>
            <a:endParaRPr lang="en-US" dirty="0"/>
          </a:p>
          <a:p>
            <a:pPr/>
            <a:r>
              <a:rPr lang="zh-CN" dirty="0"/>
              <a:t>基于这些依据，后续实验按组织检测、CM功能和两端分子验证逐步开展。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本研究拟结合动物组织检测与细胞实验，依次评价组织中的相关变化、CM的调节作用，以及供体DSG2和接收细胞Siglec-E的参与情况。动物蛋白检测可与细胞模型预实验同步开展。在确认CM效应稳定后，分别进行两端分子的敲低和恢复表达，再考虑组合干预。若CM效应尚不稳定，应先优化培养与转移条件，再开展活性成分及受体机制研究。</a:t>
            </a:r>
          </a:p>
          <a:p>
            <a:pPr/>
            <a:endParaRPr lang="en-US" dirty="0"/>
          </a:p>
          <a:p>
            <a:pPr/>
            <a:r>
              <a:rPr lang="zh-CN" dirty="0"/>
              <a:t>已有动物材料可先用于蛋白检测，并与细胞预实验同步推进。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采用结肠组织检测DSG2、ZO-1和Occludin，评价上皮连接状态；检测Siglec-E及p-p65/总p65，分析免疫相关变化，并与同一动物的实际表型对应。以动物个体为独立样本，统一曝光及分析。组织Siglec-E还可能受髓系细胞数量变化影响，需结合细胞定位或组成进行解释。该部分用于建立体内关联，后续通过细胞干预进一步判断两端分子在CM效应中的作用。</a:t>
            </a:r>
          </a:p>
          <a:p>
            <a:pPr/>
            <a:endParaRPr lang="en-US" dirty="0"/>
          </a:p>
          <a:p>
            <a:pPr/>
            <a:r>
              <a:rPr lang="zh-CN" dirty="0"/>
              <a:t>细胞部分首先建立可重复的CM制备和转移流程。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Caco-2经炎症刺激及药物处理后，洗涤换液并收集CM，统一活细胞量、血清、体积和收集时间。设置未条件化培养液、无细胞同程孵育及残余药物或刺激物匹配对照，并检测两端细胞活性。将CM作用于RAW264.7，早期检测p-p65/总p65，后期检测鼠源Tnf、Il6及分泌蛋白。同时检测输入CM及无接收细胞样本，排查因子带入；具体比例和采样时间由预实验确定。</a:t>
            </a:r>
          </a:p>
          <a:p>
            <a:pPr/>
            <a:endParaRPr lang="en-US" dirty="0"/>
          </a:p>
          <a:p>
            <a:pPr/>
            <a:r>
              <a:rPr lang="zh-CN" dirty="0"/>
              <a:t>确认CM确有稳定效应后，再判断该效应是否需要上皮细胞中的DSG2。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本页改变的是Caco-2中的DSG2和药物处理，RAW264.7保持未进行受体干预的状态。炎症背景下，①与②用于评价DSG2正常时的药物CM效应，③与④用于评价DSG2敲低后的药物CM效应；应比较这两种效应的差异，而非仅比较单组终点。另设非炎症背景下的非靶向对照和DSG2敲低两组，共六组，以帮助判断DSG2本身及细胞损伤的影响。同步确认供体活性及敲低效率，关键结果结合独立siRNA和耐受敲低的DSG2恢复表达验证。即使获得支持，也仅说明上皮DSG2参与CM效应，是否由CM中的DSG2相关成分发挥作用仍需后续去除、回补等实验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本页改变的是RAW264.7的Siglec-E状态，Caco-2端不进行DSG2敲低。先从炎症处理及炎症加药处理的Caco-2中，按相同洗涤换液和收集流程准备两种CM，再分别作用于受体正常和Siglece敲低的RAW264.7，形成四组。同一批炎症CM分配给①和③，同一批药物供体CM分配给②和④；先比较①与②，再比较③与④，检验CM类型与受体状态的交互作用。若受体敲低后药物供体CM效应减弱，结合活性、敲低效率和恢复表达结果，可支持Siglec-E参与该效应。两端独立实验获得支持后，才考虑药物、DSG2和Siglec-E三因素的八条件整合；本页四组不包含该整合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本研究拟检验药物处理后上皮DSG2相关状态、CM效应、接收端Siglec-E与炎症反应之间的功能联系。机制图虚线均为待验证作用，不代表本课题已有实测结果。两端分子参与CM效应，不等于已证明DSG2与鼠Siglec-E直接结合，后续需进一步鉴定活性成分及其作用方式。</a:t>
            </a:r>
          </a:p>
          <a:p>
            <a:pPr/>
            <a:endParaRPr lang="en-US" dirty="0"/>
          </a:p>
          <a:p>
            <a:pPr/>
            <a:r>
              <a:rPr lang="zh-CN" dirty="0"/>
              <a:t>后附页保留本次上传的免疫荧光图片，便于结合实际实验记录讨论。</a:t>
            </a:r>
          </a:p>
          <a:p>
            <a:pPr/>
            <a:endParaRPr lang="en-US" dirty="0"/>
          </a:p>
          <a:p>
            <a:pPr/>
            <a:r>
              <a:rPr lang="zh-CN" dirty="0"/>
              <a:t>完整参考文献（编号沿用原Word）：</a:t>
            </a:r>
          </a:p>
          <a:p>
            <a:pPr/>
            <a:r>
              <a:rPr lang="zh-CN" dirty="0"/>
              <a:t>完整参考文献</a:t>
            </a:r>
          </a:p>
          <a:p>
            <a:pPr/>
            <a:endParaRPr lang="en-US" dirty="0"/>
          </a:p>
          <a:p>
            <a:pPr/>
            <a:r>
              <a:rPr lang="zh-CN" dirty="0"/>
              <a:t>编号沿用最终版Word；正文引用与本表一致。</a:t>
            </a:r>
          </a:p>
          <a:p>
            <a:pPr/>
            <a:endParaRPr lang="en-US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en-US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en-US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en-US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en-US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en-US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en-US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en-US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en-US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en-US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en-US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en-US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en-US" dirty="0"/>
          </a:p>
          <a:p>
            <a:pPr/>
            <a:r>
              <a:rPr lang="zh-CN" dirty="0"/>
              <a:t>[13] 李朋彦. 氧化苦参碱治疗湿热型慢性溃疡性结肠炎的作用机制研究[D]. 天津中医药大学. 参考正文第37—38、51—52及85—86页。</a:t>
            </a:r>
          </a:p>
          <a:p>
            <a:pPr/>
            <a:endParaRPr lang="en-US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en-US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en-US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en-US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en-US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en-US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en-US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en-US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  <a:p>
            <a:pPr/>
            <a:endParaRPr lang="en-US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SG2_Siglec_fin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altLang="en-US" smtClean="0"/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altLang="en-US" smtClean="0"/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CN" sz="2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lang="zh-CN"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lang="zh-CN"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lang="zh-CN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lang="zh-CN"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lang="zh-CN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lang="zh-CN"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lang="zh-CN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lang="zh-CN"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lang="zh-CN"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lang="zh-CN"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lang="zh-CN"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1" Type="http://schemas.openxmlformats.org/officeDocument/2006/relationships/image" Target="../media/image1.png" />  <Relationship Id="rId3" Type="http://schemas.openxmlformats.org/officeDocument/2006/relationships/notesSlide" Target="../notesSlides/notesSlide1.xml"/>
</Relationships>
</file>

<file path=ppt/slides/_rels/slide2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1" Type="http://schemas.openxmlformats.org/officeDocument/2006/relationships/image" Target="../media/image1.png" />  <Relationship Id="rId3" Type="http://schemas.openxmlformats.org/officeDocument/2006/relationships/notesSlide" Target="../notesSlides/notesSlide2.xml"/>
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3.xml"/>
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4.xml"/>
</Relationships>
</file>

<file path=ppt/slides/_rels/slide5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1" Type="http://schemas.openxmlformats.org/officeDocument/2006/relationships/image" Target="../media/image2.jpeg" />  <Relationship Id="rId3" Type="http://schemas.openxmlformats.org/officeDocument/2006/relationships/notesSlide" Target="../notesSlides/notesSlide5.xml"/>
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6.xml"/>
</Relationships>
</file>

<file path=ppt/slides/_rels/slide7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1" Type="http://schemas.openxmlformats.org/officeDocument/2006/relationships/image" Target="../media/image3.jpeg" />  <Relationship Id="rId3" Type="http://schemas.openxmlformats.org/officeDocument/2006/relationships/notesSlide" Target="../notesSlides/notesSlide7.xml"/>
</Relationships>
</file>

<file path=ppt/slides/_rels/slide8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1" Type="http://schemas.openxmlformats.org/officeDocument/2006/relationships/image" Target="../media/image4.png" />  <Relationship Id="rId3" Type="http://schemas.openxmlformats.org/officeDocument/2006/relationships/notesSlide" Target="../notesSlides/notesSlide8.xml"/>
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9.xml"/>
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10.xml"/>
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11.xml"/>
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<Relationship Id="rId2" Type="http://schemas.openxmlformats.org/officeDocument/2006/relationships/notesSlide" Target="../notesSlides/notesSlide12.xml"/>
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  <Relationship Id="rId2" Type="http://schemas.openxmlformats.org/officeDocument/2006/relationships/notesSlide" Target="../notesSlides/notesSlide13.xml"/>
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    <Relationship Id="rId2" Type="http://schemas.openxmlformats.org/officeDocument/2006/relationships/notesSlide" Target="../notesSlides/notesSlide14.xml"/>
</Relationships>
</file>

<file path=ppt/slides/_rels/slide15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1" Type="http://schemas.openxmlformats.org/officeDocument/2006/relationships/image" Target="../media/image5.png" />  <Relationship Id="rId3" Type="http://schemas.openxmlformats.org/officeDocument/2006/relationships/notesSlide" Target="../notesSlides/notesSlide15.xml"/>
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3.tiff"/><Relationship Id="rId7" Type="http://schemas.openxmlformats.org/officeDocument/2006/relationships/image" Target="../media/image12.tiff"/><Relationship Id="rId6" Type="http://schemas.openxmlformats.org/officeDocument/2006/relationships/image" Target="../media/image11.tiff"/><Relationship Id="rId5" Type="http://schemas.openxmlformats.org/officeDocument/2006/relationships/image" Target="../media/image10.tiff"/><Relationship Id="rId4" Type="http://schemas.openxmlformats.org/officeDocument/2006/relationships/image" Target="../media/image9.tiff"/><Relationship Id="rId3" Type="http://schemas.openxmlformats.org/officeDocument/2006/relationships/image" Target="../media/image8.tiff"/><Relationship Id="rId2" Type="http://schemas.openxmlformats.org/officeDocument/2006/relationships/image" Target="../media/image7.tiff"/><Relationship Id="rId1" Type="http://schemas.openxmlformats.org/officeDocument/2006/relationships/image" Target="../media/image6.tiff"/></Relationships>
</file>

<file path=ppt/slides/slide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469900"/>
            <a:ext cx="11292078" cy="587375"/>
            <a:chOff x="442722" y="469900"/>
            <a:chExt cx="11292078" cy="587375"/>
          </a:xfrm>
        </p:grpSpPr>
        <p:sp>
          <p:nvSpPr>
            <p:cNvPr id="3" name="TextBox 3"/>
            <p:cNvSpPr txBox="1"/>
            <p:nvPr/>
          </p:nvSpPr>
          <p:spPr>
            <a:xfrm>
              <a:off x="442722" y="469900"/>
              <a:ext cx="570433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肠上皮屏障损伤与黏膜炎症互作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36499" y="6264275"/>
            <a:ext cx="11283696" cy="310896"/>
            <a:chOff x="451104" y="5962650"/>
            <a:chExt cx="11283696" cy="31089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72794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[1] Intestinal epithelial cells: regulators of barrier function and immune homeostasis.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barrier-figure"/>
          <p:cNvGrpSpPr/>
          <p:nvPr/>
        </p:nvGrpSpPr>
        <p:grpSpPr>
          <a:xfrm>
            <a:off x="762000" y="1390650"/>
            <a:ext cx="6477000" cy="4400550"/>
            <a:chOff x="762000" y="1390650"/>
            <a:chExt cx="6477000" cy="4400550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114425" y="1390650"/>
              <a:ext cx="5543550" cy="3695700"/>
            </a:xfrm>
            <a:prstGeom prst="rect">
              <a:avLst/>
            </a:prstGeom>
          </p:spPr>
        </p:pic>
        <p:sp>
          <p:nvSpPr>
            <p:cNvPr id="12" name="TextBox 12"/>
            <p:cNvSpPr/>
            <p:nvPr/>
          </p:nvSpPr>
          <p:spPr>
            <a:xfrm>
              <a:off x="762000" y="5181600"/>
              <a:ext cx="64770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7625" rIns="0" bIns="0" anchor="t" anchorCtr="0">
              <a:no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52615D"/>
                  </a:solidFill>
                  <a:latin typeface="Times New Roman"/>
                  <a:ea typeface="SimSun"/>
                  <a:cs typeface="Times New Roman"/>
                </a:rPr>
                <a:t>上方为肠上皮及细胞间连接，下方为固有层免疫细胞。</a:t>
              </a:r>
              <a:br/>
              <a:r>
                <a:rPr lang="zh-CN" sz="1500" dirty="0">
                  <a:solidFill>
                    <a:srgbClr val="52615D"/>
                  </a:solidFill>
                  <a:latin typeface="Times New Roman"/>
                  <a:ea typeface="SimSun"/>
                  <a:cs typeface="Times New Roman"/>
                </a:rPr>
                <a:t>两者位置相邻，说明上皮变化可能影响局部免疫反应。</a:t>
              </a:r>
            </a:p>
          </p:txBody>
        </p:sp>
      </p:grpSp>
      <p:grpSp>
        <p:nvGrpSpPr>
          <p:cNvPr id="16" name="barrier-interpretation"/>
          <p:cNvGrpSpPr/>
          <p:nvPr/>
        </p:nvGrpSpPr>
        <p:grpSpPr>
          <a:xfrm>
            <a:off x="7620000" y="1381125"/>
            <a:ext cx="4114800" cy="4371975"/>
            <a:chOff x="7620000" y="1381125"/>
            <a:chExt cx="4114800" cy="4371975"/>
          </a:xfrm>
        </p:grpSpPr>
        <p:sp>
          <p:nvSpPr>
            <p:cNvPr id="14" name="TextBox 14"/>
            <p:cNvSpPr/>
            <p:nvPr/>
          </p:nvSpPr>
          <p:spPr>
            <a:xfrm>
              <a:off x="7620000" y="1381125"/>
              <a:ext cx="4114800" cy="2038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肠上皮由桥粒、紧密连接和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黏附连接共同维持完整性，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并通过分泌物参与免疫调节。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屏障受损后，肠腔抗原及炎症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刺激更易进入黏膜，促进局部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免疫细胞活化。[1]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7620000" y="3714750"/>
              <a:ext cx="4114800" cy="2038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持续炎症又可损伤上皮，使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屏障障碍与免疫失衡相互促进。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本研究拟从上皮连接分子DSG2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入手，结合巨噬细胞炎症反应，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探讨上皮状态改变与黏膜免疫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调节之间的联系。</a:t>
              </a:r>
            </a:p>
          </p:txBody>
        </p:sp>
      </p:grpSp>
      <p:sp>
        <p:nvSpPr>
          <p:cNvPr id="17" name="文本框 16"/>
          <p:cNvSpPr/>
          <p:nvPr/>
        </p:nvSpPr>
        <p:spPr>
          <a:xfrm>
            <a:off x="11049000" y="6496050"/>
            <a:ext cx="83820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38100" rIns="0" bIns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01 / 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482600"/>
            <a:ext cx="11292078" cy="574675"/>
            <a:chOff x="442722" y="482600"/>
            <a:chExt cx="11292078" cy="574675"/>
          </a:xfrm>
        </p:grpSpPr>
        <p:sp>
          <p:nvSpPr>
            <p:cNvPr id="3" name="TextBox 3"/>
            <p:cNvSpPr txBox="1"/>
            <p:nvPr/>
          </p:nvSpPr>
          <p:spPr>
            <a:xfrm>
              <a:off x="442722" y="482600"/>
              <a:ext cx="603066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DSG2的结构定位与屏障调节作用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1" name="references"/>
          <p:cNvGrpSpPr/>
          <p:nvPr/>
        </p:nvGrpSpPr>
        <p:grpSpPr>
          <a:xfrm>
            <a:off x="754634" y="6032500"/>
            <a:ext cx="11283696" cy="603250"/>
            <a:chOff x="451104" y="5962650"/>
            <a:chExt cx="11283696" cy="60325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00750"/>
              <a:ext cx="539496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200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[2] Desmoglein 2-mediated adhesion is required for intestinal epithelial barrier integrity.</a:t>
              </a:r>
              <a:endPara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191250"/>
              <a:ext cx="610108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200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[3] Desmoglein 2 regulates the intestinal epithelial barrier via p38 mitogen-activated protein kinase.</a:t>
              </a:r>
              <a:endPara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51104" y="6381750"/>
              <a:ext cx="495744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[4] Desmoglein 2, but not desmocollin 2, protects intestinal epithelia from injury.</a:t>
              </a:r>
              <a:endParaRPr lang="en-US" altLang="zh-CN" sz="1200" dirty="0">
                <a:solidFill>
                  <a:schemeClr val="accent5"/>
                </a:solidFill>
                <a:latin typeface="Times New Roman" panose="02020603050405020304" charset="0"/>
                <a:ea typeface="+mn-ea"/>
                <a:cs typeface="Times New Roman" panose="02020603050405020304" charset="0"/>
                <a:sym typeface="+mn-ea"/>
              </a:endParaRPr>
            </a:p>
          </p:txBody>
        </p:sp>
      </p:grpSp>
      <p:grpSp>
        <p:nvGrpSpPr>
          <p:cNvPr id="16" name="dsg2-figure"/>
          <p:cNvGrpSpPr/>
          <p:nvPr/>
        </p:nvGrpSpPr>
        <p:grpSpPr>
          <a:xfrm>
            <a:off x="762000" y="1275080"/>
            <a:ext cx="6477000" cy="4516120"/>
            <a:chOff x="762000" y="1275080"/>
            <a:chExt cx="6477000" cy="4516120"/>
          </a:xfrm>
        </p:grpSpPr>
        <p:pic>
          <p:nvPicPr>
            <p:cNvPr id="12" name="Image 1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114425" y="1390650"/>
              <a:ext cx="5543550" cy="3695700"/>
            </a:xfrm>
            <a:prstGeom prst="rect">
              <a:avLst/>
            </a:prstGeom>
          </p:spPr>
        </p:pic>
        <p:sp>
          <p:nvSpPr>
            <p:cNvPr id="13" name="TextBox 13"/>
            <p:cNvSpPr txBox="1"/>
            <p:nvPr/>
          </p:nvSpPr>
          <p:spPr>
            <a:xfrm>
              <a:off x="4918456" y="1275080"/>
              <a:ext cx="15544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桥粒黏附结构</a:t>
              </a:r>
              <a:endParaRPr lang="zh-CN" sz="18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Line 14"/>
            <p:cNvSpPr/>
            <p:nvPr/>
          </p:nvSpPr>
          <p:spPr>
            <a:xfrm>
              <a:off x="5581650" y="1733550"/>
              <a:ext cx="609600" cy="742950"/>
            </a:xfrm>
            <a:custGeom>
              <a:avLst/>
              <a:gdLst/>
              <a:ahLst/>
              <a:cxnLst/>
              <a:rect l="l" t="t" r="r" b="b"/>
              <a:pathLst>
                <a:path w="609600" h="742950">
                  <a:moveTo>
                    <a:pt x="0" y="0"/>
                  </a:moveTo>
                  <a:lnTo>
                    <a:pt x="609600" y="7429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5" name="TextBox 15"/>
            <p:cNvSpPr/>
            <p:nvPr/>
          </p:nvSpPr>
          <p:spPr>
            <a:xfrm>
              <a:off x="762000" y="5181600"/>
              <a:ext cx="64770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7625" rIns="0" bIns="0" anchor="t" anchorCtr="0">
              <a:no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52615D"/>
                  </a:solidFill>
                  <a:latin typeface="Times New Roman"/>
                  <a:ea typeface="SimSun"/>
                  <a:cs typeface="Times New Roman"/>
                </a:rPr>
                <a:t>DSG2位于相邻细胞的桥粒连接处，既参与细胞间黏附，</a:t>
              </a:r>
              <a:br/>
              <a:r>
                <a:rPr lang="zh-CN" sz="1500" dirty="0">
                  <a:solidFill>
                    <a:srgbClr val="52615D"/>
                  </a:solidFill>
                  <a:latin typeface="Times New Roman"/>
                  <a:ea typeface="SimSun"/>
                  <a:cs typeface="Times New Roman"/>
                </a:rPr>
                <a:t>也与胞内骨架相连；因此，检测时还应关注其膜定位。</a:t>
              </a:r>
            </a:p>
          </p:txBody>
        </p:sp>
      </p:grpSp>
      <p:sp>
        <p:nvSpPr>
          <p:cNvPr id="17" name="TextBox 17"/>
          <p:cNvSpPr/>
          <p:nvPr/>
        </p:nvSpPr>
        <p:spPr>
          <a:xfrm>
            <a:off x="7353300" y="1381125"/>
            <a:ext cx="4381500" cy="4324350"/>
          </a:xfrm>
          <a:prstGeom prst="rect">
            <a:avLst/>
          </a:prstGeom>
          <a:noFill/>
          <a:ln>
            <a:noFill/>
          </a:ln>
        </p:spPr>
        <p:txBody>
          <a:bodyPr wrap="none" lIns="0" tIns="53340" rIns="0" bIns="0" anchor="t" anchorCtr="0">
            <a:noAutofit/>
          </a:bodyPr>
          <a:lstStyle/>
          <a:p>
            <a:pPr algn="l">
              <a:lnSpc>
                <a:spcPts val="2700"/>
              </a:lnSpc>
            </a:pPr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DSG2（desmoglein 2）是桥粒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钙黏蛋白家族的跨膜糖蛋白。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其胞外区域参与细胞间黏附，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胞内区域通过桥粒蛋白与骨架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相连，维持上皮结构稳定。[2–4]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已有研究表明，DSG2还参与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屏障修复及相关信号调节。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炎症可改变其表达、膜定位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与剪切状态，因此需结合蛋白</a:t>
            </a:r>
            <a:br/>
            <a:r>
              <a:rPr lang="zh-CN" sz="1800" dirty="0">
                <a:solidFill>
                  <a:srgbClr val="18312E"/>
                </a:solidFill>
                <a:latin typeface="Times New Roman"/>
                <a:ea typeface="SimSun"/>
                <a:cs typeface="Times New Roman"/>
              </a:rPr>
              <a:t>检测和功能实验评价其作用。</a:t>
            </a:r>
            <a:br/>
            <a:r>
              <a:rPr lang="en-US" sz="1800" dirty="0">
                <a:solidFill>
                  <a:srgbClr val="18312E"/>
                </a:solidFill>
                <a:latin typeface="Times New Roman"/>
                <a:ea typeface="Times New Roman"/>
                <a:cs typeface="Times New Roman"/>
              </a:rPr>
              <a:t>[3,5,6]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671195" y="6582410"/>
            <a:ext cx="79629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[5] Intracellular Desmoglein-2 cleavage sensitizes epithelial cells to apoptosis in response to pro-inflammatory cytokines. 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" name="文本框 21"/>
          <p:cNvSpPr/>
          <p:nvPr/>
        </p:nvSpPr>
        <p:spPr>
          <a:xfrm>
            <a:off x="11049000" y="6496050"/>
            <a:ext cx="83820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38100" rIns="0" bIns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02 / 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57200" y="476250"/>
            <a:ext cx="11277600" cy="581025"/>
            <a:chOff x="457200" y="476250"/>
            <a:chExt cx="11277600" cy="581025"/>
          </a:xfrm>
        </p:grpSpPr>
        <p:sp>
          <p:nvSpPr>
            <p:cNvPr id="3" name="TextBox 3"/>
            <p:cNvSpPr/>
            <p:nvPr/>
          </p:nvSpPr>
          <p:spPr>
            <a:xfrm>
              <a:off x="457200" y="476250"/>
              <a:ext cx="112776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73343" rIns="0" bIns="0" anchor="t" anchorCtr="0">
              <a:noAutofit/>
            </a:bodyPr>
            <a:lstStyle/>
            <a:p>
              <a:pPr algn="l"/>
              <a:r>
                <a:rPr lang="zh-CN" sz="2850" b="1" dirty="0">
                  <a:solidFill>
                    <a:srgbClr val="075E45"/>
                  </a:solidFill>
                  <a:latin typeface="Times New Roman"/>
                  <a:ea typeface="SimSun"/>
                  <a:cs typeface="Times New Roman"/>
                </a:rPr>
                <a:t>条件培养基用于研究上皮对巨噬细胞的影响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3696" cy="549021"/>
            <a:chOff x="451104" y="5962650"/>
            <a:chExt cx="11283696" cy="549021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98655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[12] Soluble factors from colonic epithelial cells contribute to gut homeostasis by modulating macrophage phenotype.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80154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[14] In vitro model to estimate gut inflammation using co-cultured Caco-2 and RAW264.7 cells.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cm-model"/>
          <p:cNvGrpSpPr/>
          <p:nvPr/>
        </p:nvGrpSpPr>
        <p:grpSpPr>
          <a:xfrm>
            <a:off x="457200" y="1390650"/>
            <a:ext cx="11277600" cy="1962150"/>
            <a:chOff x="457200" y="1390650"/>
            <a:chExt cx="11277600" cy="1962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196215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952500" y="2085975"/>
              <a:ext cx="2133600" cy="685800"/>
            </a:xfrm>
            <a:prstGeom prst="ellipse">
              <a:avLst/>
            </a:prstGeom>
            <a:solidFill>
              <a:srgbClr val="E4EFE7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419225" y="2276475"/>
              <a:ext cx="30480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866900" y="2190750"/>
              <a:ext cx="30480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2286000" y="2343150"/>
              <a:ext cx="30480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89482" y="1552575"/>
              <a:ext cx="225468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Caco-2上皮供体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Line 17"/>
            <p:cNvSpPr/>
            <p:nvPr/>
          </p:nvSpPr>
          <p:spPr>
            <a:xfrm>
              <a:off x="3371850" y="2400300"/>
              <a:ext cx="14859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181600" y="2000250"/>
              <a:ext cx="1752600" cy="819150"/>
            </a:xfrm>
            <a:prstGeom prst="roundRect">
              <a:avLst>
                <a:gd name="adj" fmla="val 9302"/>
              </a:avLst>
            </a:prstGeom>
            <a:solidFill>
              <a:srgbClr val="E4EFE7"/>
            </a:solidFill>
            <a:ln>
              <a:noFill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849747" y="2089150"/>
              <a:ext cx="49286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CM</a:t>
              </a:r>
              <a:endParaRPr lang="en-US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728335" y="2488565"/>
              <a:ext cx="868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培养上清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Line 21"/>
            <p:cNvSpPr/>
            <p:nvPr/>
          </p:nvSpPr>
          <p:spPr>
            <a:xfrm>
              <a:off x="7219950" y="2400300"/>
              <a:ext cx="139065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2" name="Ellipse 22"/>
            <p:cNvSpPr/>
            <p:nvPr/>
          </p:nvSpPr>
          <p:spPr>
            <a:xfrm>
              <a:off x="9048750" y="1990725"/>
              <a:ext cx="2095500" cy="8763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9734550" y="2209800"/>
              <a:ext cx="723900" cy="43815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252077" y="1475105"/>
              <a:ext cx="168981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RAW264.7</a:t>
              </a:r>
              <a:endParaRPr lang="en-US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54430" y="2971800"/>
              <a:ext cx="24086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刺激 / 药物 / DSG2干预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54930" y="2971800"/>
              <a:ext cx="2148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洗涤换液后标准化收集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098280" y="2971800"/>
              <a:ext cx="19650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Siglec-E与炎症反应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1" name="cm-interpretation"/>
          <p:cNvGrpSpPr/>
          <p:nvPr/>
        </p:nvGrpSpPr>
        <p:grpSpPr>
          <a:xfrm>
            <a:off x="448056" y="3505200"/>
            <a:ext cx="11286744" cy="2266950"/>
            <a:chOff x="448056" y="3505200"/>
            <a:chExt cx="11286744" cy="2266950"/>
          </a:xfrm>
        </p:grpSpPr>
        <p:sp>
          <p:nvSpPr>
            <p:cNvPr id="29" name="TextBox 29"/>
            <p:cNvSpPr/>
            <p:nvPr/>
          </p:nvSpPr>
          <p:spPr>
            <a:xfrm>
              <a:off x="457200" y="3505200"/>
              <a:ext cx="112776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条件培养基（conditioned medium，CM）是细胞培养一定时间后收集的培养上清，可含细胞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释放的蛋白、代谢物及细胞外囊泡。将其转移至另一类细胞，可评价上皮来源物质对免疫细胞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的影响，是研究细胞间非直接接触作用的一种方法。[12]</a:t>
              </a:r>
            </a:p>
          </p:txBody>
        </p:sp>
        <p:grpSp>
          <p:nvGrpSpPr>
            <p:cNvPr id="33" name="TextBox 30"/>
            <p:cNvGrpSpPr/>
            <p:nvPr/>
          </p:nvGrpSpPr>
          <p:grpSpPr>
            <a:xfrm>
              <a:off x="448056" y="4660900"/>
              <a:ext cx="11286744" cy="1111250"/>
              <a:chOff x="448056" y="4660900"/>
              <a:chExt cx="11286744" cy="1111250"/>
            </a:xfrm>
          </p:grpSpPr>
          <p:sp>
            <p:nvSpPr>
              <p:cNvPr id="34" name="Freeform 11"/>
              <p:cNvSpPr/>
              <p:nvPr/>
            </p:nvSpPr>
            <p:spPr>
              <a:xfrm>
                <a:off x="457200" y="4667250"/>
                <a:ext cx="11277600" cy="1104900"/>
              </a:xfrm>
              <a:custGeom>
                <a:avLst/>
                <a:gdLst/>
                <a:ahLst/>
                <a:cxnLst/>
                <a:rect l="l" t="t" r="r" b="b"/>
                <a:pathLst>
                  <a:path w="11277600" h="1104900">
                    <a:moveTo>
                      <a:pt x="0" y="0"/>
                    </a:moveTo>
                    <a:lnTo>
                      <a:pt x="11277600" y="0"/>
                    </a:lnTo>
                    <a:lnTo>
                      <a:pt x="11277600" y="1104900"/>
                    </a:lnTo>
                    <a:lnTo>
                      <a:pt x="0" y="1104900"/>
                    </a:lnTo>
                    <a:close/>
                  </a:path>
                </a:pathLst>
              </a:custGeom>
              <a:noFill/>
              <a:ln>
                <a:noFill/>
              </a:ln>
            </p:spPr>
          </p:sp>
          <p:sp>
            <p:nvSpPr>
              <p:cNvPr id="35" name="TextBox 12"/>
              <p:cNvSpPr txBox="1"/>
              <p:nvPr/>
            </p:nvSpPr>
            <p:spPr>
              <a:xfrm>
                <a:off x="448056" y="4660900"/>
                <a:ext cx="9299448" cy="10378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2700"/>
                  </a:lnSpc>
                </a:pP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与同时共培养相比，CM转移便于分别处理上皮细胞与巨噬细胞，观察两端的作用。CM效应也</a:t>
                </a:r>
                <a:b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可能受到营养消耗、酸碱度及处理物残留的影响，故需设置相应对照，不能将其直接归因于</a:t>
                </a:r>
                <a:b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某一种分泌因子。本研究采用Caco-2来源CM作用于RAW264.7，并验证培养条件的适用性。</a:t>
                </a:r>
              </a:p>
            </p:txBody>
          </p:sp>
        </p:grpSp>
      </p:grpSp>
      <p:sp>
        <p:nvSpPr>
          <p:cNvPr id="32" name="文本框 31"/>
          <p:cNvSpPr/>
          <p:nvPr/>
        </p:nvSpPr>
        <p:spPr>
          <a:xfrm>
            <a:off x="11049000" y="6496050"/>
            <a:ext cx="83820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38100" rIns="0" bIns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03 / 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一、研究背景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612795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Siglec家族的糖链识别与免疫调节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436096" cy="800100"/>
            <a:chOff x="451104" y="5962650"/>
            <a:chExt cx="11436096" cy="80010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/>
            <p:nvPr/>
          </p:nvSpPr>
          <p:spPr>
            <a:xfrm>
              <a:off x="451104" y="6000750"/>
              <a:ext cx="2987707" cy="1841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[7] Siglecs and their roles in the immune system.</a:t>
              </a:r>
            </a:p>
          </p:txBody>
        </p:sp>
        <p:sp>
          <p:nvSpPr>
            <p:cNvPr id="8" name="TextBox 8"/>
            <p:cNvSpPr/>
            <p:nvPr/>
          </p:nvSpPr>
          <p:spPr>
            <a:xfrm>
              <a:off x="451104" y="6203918"/>
              <a:ext cx="6829425" cy="3841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>
                <a:lnSpc>
                  <a:spcPts val="1500"/>
                </a:lnSpc>
              </a:pPr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[8] mSiglec-E, a novel mouse CD33-related siglec (sialic acid-binding immunoglobulin-like lectin) that recruits</a:t>
              </a:r>
              <a:b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</a:br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Src homology 2 (SH2)-domain-containing protein tyrosine phosphatases SHP-1 and SHP-2.</a:t>
              </a:r>
            </a:p>
          </p:txBody>
        </p:sp>
        <p:sp>
          <p:nvSpPr>
            <p:cNvPr id="9" name="TextBox 9"/>
            <p:cNvSpPr/>
            <p:nvPr/>
          </p:nvSpPr>
          <p:spPr>
            <a:xfrm>
              <a:off x="11049000" y="6496050"/>
              <a:ext cx="838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810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04 / 16</a:t>
              </a:r>
            </a:p>
          </p:txBody>
        </p:sp>
      </p:grpSp>
      <p:grpSp>
        <p:nvGrpSpPr>
          <p:cNvPr id="24" name="siglec-structure"/>
          <p:cNvGrpSpPr/>
          <p:nvPr/>
        </p:nvGrpSpPr>
        <p:grpSpPr>
          <a:xfrm>
            <a:off x="457200" y="1390650"/>
            <a:ext cx="6858000" cy="4381500"/>
            <a:chOff x="457200" y="1390650"/>
            <a:chExt cx="6858000" cy="438150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6858000" cy="436245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2" name="Line 12"/>
            <p:cNvSpPr/>
            <p:nvPr/>
          </p:nvSpPr>
          <p:spPr>
            <a:xfrm>
              <a:off x="914400" y="3238500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114300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914650"/>
              <a:ext cx="6553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细胞膜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Ellipse 14"/>
            <p:cNvSpPr/>
            <p:nvPr/>
          </p:nvSpPr>
          <p:spPr>
            <a:xfrm>
              <a:off x="3305175" y="1695450"/>
              <a:ext cx="819150" cy="990600"/>
            </a:xfrm>
            <a:prstGeom prst="ellipse">
              <a:avLst/>
            </a:prstGeom>
            <a:solidFill>
              <a:srgbClr val="E4EFE7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3390900" y="2543175"/>
              <a:ext cx="647700" cy="666750"/>
            </a:xfrm>
            <a:prstGeom prst="ellipse">
              <a:avLst/>
            </a:prstGeom>
            <a:solidFill>
              <a:srgbClr val="E4EFE7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3714750" y="3143250"/>
              <a:ext cx="9525" cy="952500"/>
            </a:xfrm>
            <a:custGeom>
              <a:avLst/>
              <a:gdLst/>
              <a:ahLst/>
              <a:cxnLst/>
              <a:rect l="l" t="t" r="r" b="b"/>
              <a:pathLst>
                <a:path w="9525" h="952500">
                  <a:moveTo>
                    <a:pt x="0" y="0"/>
                  </a:moveTo>
                  <a:lnTo>
                    <a:pt x="0" y="952500"/>
                  </a:ln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3600450" y="3714750"/>
              <a:ext cx="228600" cy="228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4514850" y="3905250"/>
              <a:ext cx="1866900" cy="590550"/>
            </a:xfrm>
            <a:prstGeom prst="roundRect">
              <a:avLst>
                <a:gd name="adj" fmla="val 1290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3867150" y="3886200"/>
              <a:ext cx="552450" cy="266700"/>
            </a:xfrm>
            <a:custGeom>
              <a:avLst/>
              <a:gdLst/>
              <a:ahLst/>
              <a:cxnLst/>
              <a:rect l="l" t="t" r="r" b="b"/>
              <a:pathLst>
                <a:path w="552450" h="266700">
                  <a:moveTo>
                    <a:pt x="0" y="0"/>
                  </a:moveTo>
                  <a:lnTo>
                    <a:pt x="552450" y="2667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681" y="4070350"/>
              <a:ext cx="20857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SHP-1 / SHP-2</a:t>
              </a:r>
              <a:endParaRPr lang="en-US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258056" y="1987550"/>
              <a:ext cx="20665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唾液酸糖链识别区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391156" y="4086225"/>
              <a:ext cx="163311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ITIM相关信号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/>
            <p:nvPr/>
          </p:nvSpPr>
          <p:spPr>
            <a:xfrm>
              <a:off x="762000" y="5105400"/>
              <a:ext cx="6477000" cy="666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7625" rIns="0" bIns="0" anchor="t" anchorCtr="0">
              <a:no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52615D"/>
                  </a:solidFill>
                  <a:latin typeface="Times New Roman"/>
                  <a:ea typeface="SimSun"/>
                  <a:cs typeface="Times New Roman"/>
                </a:rPr>
                <a:t>图中受体在细胞外识别糖链，再将信息传递至细胞内。</a:t>
              </a:r>
              <a:br/>
              <a:r>
                <a:rPr lang="zh-CN" sz="1500" dirty="0">
                  <a:solidFill>
                    <a:srgbClr val="52615D"/>
                  </a:solidFill>
                  <a:latin typeface="Times New Roman"/>
                  <a:ea typeface="SimSun"/>
                  <a:cs typeface="Times New Roman"/>
                </a:rPr>
                <a:t>表达量变化并不等于受体已被激活，仍需功能实验判断。</a:t>
              </a:r>
            </a:p>
          </p:txBody>
        </p:sp>
      </p:grpSp>
      <p:grpSp>
        <p:nvGrpSpPr>
          <p:cNvPr id="27" name="siglec-interpretation"/>
          <p:cNvGrpSpPr/>
          <p:nvPr/>
        </p:nvGrpSpPr>
        <p:grpSpPr>
          <a:xfrm>
            <a:off x="7620000" y="1381125"/>
            <a:ext cx="4114800" cy="4371975"/>
            <a:chOff x="7620000" y="1381125"/>
            <a:chExt cx="4114800" cy="4371975"/>
          </a:xfrm>
        </p:grpSpPr>
        <p:sp>
          <p:nvSpPr>
            <p:cNvPr id="25" name="TextBox 25"/>
            <p:cNvSpPr/>
            <p:nvPr/>
          </p:nvSpPr>
          <p:spPr>
            <a:xfrm>
              <a:off x="7620000" y="1381125"/>
              <a:ext cx="4114800" cy="17335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Siglec是唾液酸结合免疫球蛋白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样凝集素，能够识别糖蛋白或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糖脂上的唾液酸糖链。部分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抑制性成员在髓系细胞表达，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参与免疫应答的调节。[7]</a:t>
              </a:r>
            </a:p>
          </p:txBody>
        </p:sp>
        <p:sp>
          <p:nvSpPr>
            <p:cNvPr id="26" name="TextBox 26"/>
            <p:cNvSpPr/>
            <p:nvPr/>
          </p:nvSpPr>
          <p:spPr>
            <a:xfrm>
              <a:off x="7620000" y="3333750"/>
              <a:ext cx="4114800" cy="2419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人Siglec-9与鼠Siglec-E具有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部分相似功能，但配体识别及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作用背景仍需分别验证。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Siglec-E可募集SHP-1/2。[8]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本研究以鼠源细胞中的Siglec-E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为候选受体，通过敲低和恢复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表达判断其是否参与CM效应。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603066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DSG2黏附受损增加肠上皮通透性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1" name="references"/>
          <p:cNvGrpSpPr/>
          <p:nvPr/>
        </p:nvGrpSpPr>
        <p:grpSpPr>
          <a:xfrm>
            <a:off x="451104" y="5962650"/>
            <a:ext cx="11283696" cy="653796"/>
            <a:chOff x="451104" y="5962650"/>
            <a:chExt cx="11283696" cy="65379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00750"/>
              <a:ext cx="75353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[2] Desmoglein 2-mediated adhesion is required for intestinal epithelial barrier integrity.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191250"/>
              <a:ext cx="84833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[3] Desmoglein 2 regulates the intestinal epithelial barrier via p38 mitogen-activated protein kinase.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51104" y="6381750"/>
              <a:ext cx="69053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[4] Desmoglein 2, but not desmocollin 2, protects intestinal epithelia from injury.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4" name="permeability-evidence"/>
          <p:cNvGrpSpPr/>
          <p:nvPr/>
        </p:nvGrpSpPr>
        <p:grpSpPr>
          <a:xfrm>
            <a:off x="754380" y="1390650"/>
            <a:ext cx="5454002" cy="4493895"/>
            <a:chOff x="754380" y="1390650"/>
            <a:chExt cx="5454002" cy="4493895"/>
          </a:xfrm>
        </p:grpSpPr>
        <p:pic>
          <p:nvPicPr>
            <p:cNvPr id="12" name="Image 1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487819" y="1390650"/>
              <a:ext cx="4720563" cy="4152900"/>
            </a:xfrm>
            <a:prstGeom prst="rect">
              <a:avLst/>
            </a:prstGeom>
          </p:spPr>
        </p:pic>
        <p:sp>
          <p:nvSpPr>
            <p:cNvPr id="13" name="TextBox 13"/>
            <p:cNvSpPr txBox="1"/>
            <p:nvPr/>
          </p:nvSpPr>
          <p:spPr>
            <a:xfrm>
              <a:off x="754380" y="5591175"/>
              <a:ext cx="46516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文献[2] Figure 6：DSG2黏附阻断增加通透性。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permeability-interpretation"/>
          <p:cNvGrpSpPr/>
          <p:nvPr/>
        </p:nvGrpSpPr>
        <p:grpSpPr>
          <a:xfrm>
            <a:off x="7620000" y="1381125"/>
            <a:ext cx="4114800" cy="4219575"/>
            <a:chOff x="7620000" y="1381125"/>
            <a:chExt cx="4114800" cy="4219575"/>
          </a:xfrm>
        </p:grpSpPr>
        <p:sp>
          <p:nvSpPr>
            <p:cNvPr id="15" name="TextBox 15"/>
            <p:cNvSpPr/>
            <p:nvPr/>
          </p:nvSpPr>
          <p:spPr>
            <a:xfrm>
              <a:off x="7620000" y="1381125"/>
              <a:ext cx="4114800" cy="17335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文献在阻断DSG2胞外黏附后，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观察到上皮单层通透性升高，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并伴随电阻降低及连接蛋白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定位改变，说明DSG2对维持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屏障完整性具有功能作用。[2]</a:t>
              </a:r>
            </a:p>
          </p:txBody>
        </p:sp>
        <p:sp>
          <p:nvSpPr>
            <p:cNvPr id="16" name="TextBox 16"/>
            <p:cNvSpPr/>
            <p:nvPr/>
          </p:nvSpPr>
          <p:spPr>
            <a:xfrm>
              <a:off x="7620000" y="3505200"/>
              <a:ext cx="41148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结合DSG2缺失及屏障重建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研究，现有证据支持将DSG2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作为上皮端的研究分子。[3,4]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本研究拟检测DSG2及连接蛋白，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并结合必要的定位、通透性或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电阻测定，评价上皮状态变化。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684143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DSG2胞内剪切与胞外脱落的研究依据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436096" cy="800100"/>
            <a:chOff x="451104" y="5962650"/>
            <a:chExt cx="11436096" cy="80010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102960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[5] Intracellular Desmoglein-2 cleavage sensitizes epithelial cells to apoptosis in response to pro-inflammatory cytokines.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/>
            <p:nvPr/>
          </p:nvSpPr>
          <p:spPr>
            <a:xfrm>
              <a:off x="451104" y="6276975"/>
              <a:ext cx="5886450" cy="1841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[6] Inflammation-induced desmoglein-2 ectodomain shedding compromises the mucosal barrier.</a:t>
              </a:r>
            </a:p>
          </p:txBody>
        </p:sp>
        <p:sp>
          <p:nvSpPr>
            <p:cNvPr id="9" name="TextBox 9"/>
            <p:cNvSpPr/>
            <p:nvPr/>
          </p:nvSpPr>
          <p:spPr>
            <a:xfrm>
              <a:off x="11049000" y="6496050"/>
              <a:ext cx="838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810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06 / 16</a:t>
              </a:r>
            </a:p>
          </p:txBody>
        </p:sp>
      </p:grpSp>
      <p:grpSp>
        <p:nvGrpSpPr>
          <p:cNvPr id="26" name="cleavage-comparison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539115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6153150" y="1390650"/>
              <a:ext cx="558165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46582" y="1524000"/>
              <a:ext cx="17986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胞内剪切 [5]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542532" y="1524000"/>
              <a:ext cx="269473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胞外结构域脱落 [6]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Line 15"/>
            <p:cNvSpPr/>
            <p:nvPr/>
          </p:nvSpPr>
          <p:spPr>
            <a:xfrm>
              <a:off x="2838450" y="2076450"/>
              <a:ext cx="9525" cy="1409700"/>
            </a:xfrm>
            <a:custGeom>
              <a:avLst/>
              <a:gdLst/>
              <a:ahLst/>
              <a:cxnLst/>
              <a:rect l="l" t="t" r="r" b="b"/>
              <a:pathLst>
                <a:path w="9525" h="1409700">
                  <a:moveTo>
                    <a:pt x="0" y="0"/>
                  </a:moveTo>
                  <a:lnTo>
                    <a:pt x="0" y="1409700"/>
                  </a:lnTo>
                </a:path>
              </a:pathLst>
            </a:custGeom>
            <a:noFill/>
            <a:ln w="133350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019300" y="2571750"/>
              <a:ext cx="800100" cy="228600"/>
            </a:xfrm>
            <a:prstGeom prst="roundRect">
              <a:avLst>
                <a:gd name="adj" fmla="val 33333"/>
              </a:avLst>
            </a:prstGeom>
            <a:solidFill>
              <a:srgbClr val="E4EFE7"/>
            </a:solidFill>
            <a:ln w="9525">
              <a:solidFill>
                <a:schemeClr val="accent1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2838450" y="268605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47625">
              <a:solidFill>
                <a:schemeClr val="accent1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924300" y="2571750"/>
              <a:ext cx="800100" cy="228600"/>
            </a:xfrm>
            <a:prstGeom prst="roundRect">
              <a:avLst>
                <a:gd name="adj" fmla="val 33333"/>
              </a:avLst>
            </a:prstGeom>
            <a:solidFill>
              <a:srgbClr val="E4EFE7"/>
            </a:solidFill>
            <a:ln w="9525">
              <a:solidFill>
                <a:schemeClr val="accent1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288030" y="2165350"/>
              <a:ext cx="10713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caspase-8</a:t>
              </a:r>
              <a:endParaRPr lang="en-US" sz="15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49630" y="3609975"/>
              <a:ext cx="4282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细胞裂解液：胞内表位相关片段与凋亡敏感性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Line 21"/>
            <p:cNvSpPr/>
            <p:nvPr/>
          </p:nvSpPr>
          <p:spPr>
            <a:xfrm>
              <a:off x="8610600" y="2076450"/>
              <a:ext cx="9525" cy="1409700"/>
            </a:xfrm>
            <a:custGeom>
              <a:avLst/>
              <a:gdLst/>
              <a:ahLst/>
              <a:cxnLst/>
              <a:rect l="l" t="t" r="r" b="b"/>
              <a:pathLst>
                <a:path w="9525" h="1409700">
                  <a:moveTo>
                    <a:pt x="0" y="0"/>
                  </a:moveTo>
                  <a:lnTo>
                    <a:pt x="0" y="1409700"/>
                  </a:lnTo>
                </a:path>
              </a:pathLst>
            </a:custGeom>
            <a:noFill/>
            <a:ln w="133350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219950" y="2571750"/>
              <a:ext cx="800100" cy="228600"/>
            </a:xfrm>
            <a:prstGeom prst="roundRect">
              <a:avLst>
                <a:gd name="adj" fmla="val 33333"/>
              </a:avLst>
            </a:prstGeom>
            <a:solidFill>
              <a:srgbClr val="E4EFE7"/>
            </a:solidFill>
            <a:ln w="9525">
              <a:solidFill>
                <a:schemeClr val="accent1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8610600" y="2686050"/>
              <a:ext cx="914400" cy="9525"/>
            </a:xfrm>
            <a:custGeom>
              <a:avLst/>
              <a:gdLst/>
              <a:ahLst/>
              <a:cxnLst/>
              <a:rect l="l" t="t" r="r" b="b"/>
              <a:pathLst>
                <a:path w="914400" h="9525">
                  <a:moveTo>
                    <a:pt x="0" y="0"/>
                  </a:moveTo>
                  <a:lnTo>
                    <a:pt x="914400" y="0"/>
                  </a:lnTo>
                </a:path>
              </a:pathLst>
            </a:custGeom>
            <a:noFill/>
            <a:ln w="47625">
              <a:solidFill>
                <a:schemeClr val="accent1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850380" y="2165350"/>
              <a:ext cx="18935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MMP9 / ADAM10</a:t>
              </a:r>
              <a:endParaRPr lang="en-US" sz="15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545580" y="3609975"/>
              <a:ext cx="3855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培养上清：胞外表位相关片段与黏附改变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cleavage-interpretation"/>
          <p:cNvGrpSpPr/>
          <p:nvPr/>
        </p:nvGrpSpPr>
        <p:grpSpPr>
          <a:xfrm>
            <a:off x="457200" y="4381500"/>
            <a:ext cx="11277600" cy="1409700"/>
            <a:chOff x="457200" y="4381500"/>
            <a:chExt cx="11277600" cy="1409700"/>
          </a:xfrm>
        </p:grpSpPr>
        <p:sp>
          <p:nvSpPr>
            <p:cNvPr id="27" name="TextBox 27"/>
            <p:cNvSpPr/>
            <p:nvPr/>
          </p:nvSpPr>
          <p:spPr>
            <a:xfrm>
              <a:off x="457200" y="4381500"/>
              <a:ext cx="112776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DSG2胞内剪切与胞外脱落是不同过程，分别与细胞凋亡敏感性及屏障受损有关。[5,6]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前者主要检测细胞裂解液，后者需检测培养上清，并结合抗体识别部位确认条带身份。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这些结果为研究DSG2与上清组成的联系提供依据，但尚不能确认哪一种成分介导CM效应。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本研究拟在CM功能及DSG2作用得到支持后，进一步开展裂解液与上清的配对分析。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722350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DSG2–人Siglec-9相互作用的直接证据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436096" cy="800100"/>
            <a:chOff x="451104" y="5962650"/>
            <a:chExt cx="11436096" cy="80010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13450"/>
              <a:ext cx="8356092" cy="4251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[11] Proximity Labeling and Genetic Screening Reveal that DSG2 is a Counter Receptor of Siglec-9 and Suppresses</a:t>
              </a:r>
              <a:b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Macrophage Phagocytosis.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381750"/>
              <a:ext cx="1032352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[16] Colonic epithelial cells express specific ligands for mucosal macrophage immunosuppressive receptors Siglec-7 and -9.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/>
            <p:nvPr/>
          </p:nvSpPr>
          <p:spPr>
            <a:xfrm>
              <a:off x="11049000" y="6496050"/>
              <a:ext cx="838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810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07 / 16</a:t>
              </a:r>
            </a:p>
          </p:txBody>
        </p:sp>
      </p:grpSp>
      <p:grpSp>
        <p:nvGrpSpPr>
          <p:cNvPr id="13" name="binding-evidence"/>
          <p:cNvGrpSpPr/>
          <p:nvPr/>
        </p:nvGrpSpPr>
        <p:grpSpPr>
          <a:xfrm>
            <a:off x="754380" y="1390650"/>
            <a:ext cx="6087789" cy="4493895"/>
            <a:chOff x="754380" y="1390650"/>
            <a:chExt cx="6087789" cy="4493895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35032" y="1390650"/>
              <a:ext cx="5607137" cy="4191000"/>
            </a:xfrm>
            <a:prstGeom prst="rect">
              <a:avLst/>
            </a:prstGeom>
          </p:spPr>
        </p:pic>
        <p:sp>
          <p:nvSpPr>
            <p:cNvPr id="12" name="TextBox 12"/>
            <p:cNvSpPr txBox="1"/>
            <p:nvPr/>
          </p:nvSpPr>
          <p:spPr>
            <a:xfrm>
              <a:off x="754380" y="5591175"/>
              <a:ext cx="58033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Wu等，Figure 4：遗传干预、pull-down与胞外域结合实验。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binding-interpretation"/>
          <p:cNvGrpSpPr/>
          <p:nvPr/>
        </p:nvGrpSpPr>
        <p:grpSpPr>
          <a:xfrm>
            <a:off x="7924800" y="1381125"/>
            <a:ext cx="3810000" cy="4410075"/>
            <a:chOff x="7924800" y="1381125"/>
            <a:chExt cx="3810000" cy="4410075"/>
          </a:xfrm>
        </p:grpSpPr>
        <p:sp>
          <p:nvSpPr>
            <p:cNvPr id="14" name="TextBox 14"/>
            <p:cNvSpPr/>
            <p:nvPr/>
          </p:nvSpPr>
          <p:spPr>
            <a:xfrm>
              <a:off x="7924800" y="1381125"/>
              <a:ext cx="38100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图B、C中，DSG2敲低后结合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能力降低，恢复表达后回升。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图D及胞外域实验支持两者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相互作用；糖链处理与5Q突变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使结合减弱，提示糖基化参与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DSG2–Siglec-9识别。[11]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7924800" y="3714750"/>
              <a:ext cx="3810000" cy="2076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上述证据来自肿瘤研究体系与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人源Siglec-9，不能直接推及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肠上皮CM及鼠Siglec-E。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本研究拟借鉴敲低与恢复表达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的验证方法，先明确两端分子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是否参与CM介导的功能变化。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708124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Siglec相关炎症调节与NF-κB检测依据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436096" cy="800100"/>
            <a:chOff x="451104" y="5962650"/>
            <a:chExt cx="11436096" cy="80010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00750"/>
              <a:ext cx="81360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[19] Soluble Siglec-9 alleviates intestinal inflammation through inhibition of the NF-κB pathway.</a:t>
              </a:r>
              <a:endParaRPr lang="el-GR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29350"/>
              <a:ext cx="70274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[9,17,18,20] 文献全称见本页备注；其中[18]用于说明模型差异，不能只保留支持性研究。</a:t>
              </a:r>
              <a:endPara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/>
            <p:nvPr/>
          </p:nvSpPr>
          <p:spPr>
            <a:xfrm>
              <a:off x="11049000" y="6496050"/>
              <a:ext cx="838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810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08 / 16</a:t>
              </a:r>
            </a:p>
          </p:txBody>
        </p:sp>
      </p:grpSp>
      <p:grpSp>
        <p:nvGrpSpPr>
          <p:cNvPr id="13" name="nfkb-evidence"/>
          <p:cNvGrpSpPr/>
          <p:nvPr/>
        </p:nvGrpSpPr>
        <p:grpSpPr>
          <a:xfrm>
            <a:off x="754380" y="1390650"/>
            <a:ext cx="6321447" cy="4493895"/>
            <a:chOff x="754380" y="1390650"/>
            <a:chExt cx="6321447" cy="4493895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001372" y="1390650"/>
              <a:ext cx="6074455" cy="4191000"/>
            </a:xfrm>
            <a:prstGeom prst="rect">
              <a:avLst/>
            </a:prstGeom>
            <a:solidFill>
              <a:schemeClr val="accent6"/>
            </a:solidFill>
          </p:spPr>
        </p:pic>
        <p:sp>
          <p:nvSpPr>
            <p:cNvPr id="12" name="TextBox 12"/>
            <p:cNvSpPr txBox="1"/>
            <p:nvPr/>
          </p:nvSpPr>
          <p:spPr>
            <a:xfrm>
              <a:off x="754380" y="5591175"/>
              <a:ext cx="62654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Matsumoto等，Figure 4：RAW264.7炎症与NF-κB相关结果。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nfkb-interpretation"/>
          <p:cNvGrpSpPr/>
          <p:nvPr/>
        </p:nvGrpSpPr>
        <p:grpSpPr>
          <a:xfrm>
            <a:off x="7924800" y="1381125"/>
            <a:ext cx="3810000" cy="4410075"/>
            <a:chOff x="7924800" y="1381125"/>
            <a:chExt cx="3810000" cy="4410075"/>
          </a:xfrm>
        </p:grpSpPr>
        <p:sp>
          <p:nvSpPr>
            <p:cNvPr id="14" name="TextBox 14"/>
            <p:cNvSpPr/>
            <p:nvPr/>
          </p:nvSpPr>
          <p:spPr>
            <a:xfrm>
              <a:off x="7924800" y="1381125"/>
              <a:ext cx="38100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图A、B显示外源可溶性Siglec-9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可影响炎症因子及iNOS表达；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图C提示NF-κB相关磷酸化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信号发生变化。[20]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部分比较未达到统计学显著，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说明作用随剂量和指标而异。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7924800" y="3714750"/>
              <a:ext cx="3810000" cy="2076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本研究拟联合检测p-p65/总p65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与TNF-α、IL-6，将信号变化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与炎症反应相互印证。外源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可溶性Siglec-9不同于细胞内源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Siglec-E；后者是否参与作用，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仍需结合敲低和救援验证。[18]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678164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上皮来源CM与细胞配对的可行性依据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436096" cy="800100"/>
            <a:chOff x="451104" y="5962650"/>
            <a:chExt cx="11436096" cy="80010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98655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[12] Soluble factors from colonic epithelial cells contribute to gut homeostasis by modulating macrophage phenotype.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80154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[14] In vitro model to estimate gut inflammation using co-cultured Caco-2 and RAW264.7 cells.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/>
            <p:nvPr/>
          </p:nvSpPr>
          <p:spPr>
            <a:xfrm>
              <a:off x="11049000" y="6496050"/>
              <a:ext cx="838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810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09 / 16</a:t>
              </a:r>
            </a:p>
          </p:txBody>
        </p:sp>
      </p:grpSp>
      <p:grpSp>
        <p:nvGrpSpPr>
          <p:cNvPr id="23" name="model-evidence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52856" y="1562100"/>
              <a:ext cx="356997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Kristek等 </a:t>
              </a:r>
              <a:r>
                <a:rPr lang="zh-CN" sz="1800" b="1" baseline="300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[12]</a:t>
              </a:r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：上皮可溶性因子转移</a:t>
              </a:r>
              <a:endParaRPr lang="zh-CN" sz="18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57250" y="2057400"/>
              <a:ext cx="2705100" cy="590550"/>
            </a:xfrm>
            <a:prstGeom prst="roundRect">
              <a:avLst>
                <a:gd name="adj" fmla="val 1290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838700" y="2057400"/>
              <a:ext cx="1809750" cy="590550"/>
            </a:xfrm>
            <a:prstGeom prst="roundRect">
              <a:avLst>
                <a:gd name="adj" fmla="val 1290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924800" y="2057400"/>
              <a:ext cx="3067050" cy="590550"/>
            </a:xfrm>
            <a:prstGeom prst="roundRect">
              <a:avLst>
                <a:gd name="adj" fmla="val 1290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33856" y="2209800"/>
              <a:ext cx="2130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CMT-93上皮细胞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267706" y="2209800"/>
              <a:ext cx="93451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上皮CM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63306" y="2209800"/>
              <a:ext cx="22393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J774A.1巨噬细胞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Line 19"/>
            <p:cNvSpPr/>
            <p:nvPr/>
          </p:nvSpPr>
          <p:spPr>
            <a:xfrm>
              <a:off x="3714750" y="2343150"/>
              <a:ext cx="9334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0" name="Line 20"/>
            <p:cNvSpPr/>
            <p:nvPr/>
          </p:nvSpPr>
          <p:spPr>
            <a:xfrm>
              <a:off x="6800850" y="2343150"/>
              <a:ext cx="9334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52856" y="2876550"/>
              <a:ext cx="408051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Tanoue等 </a:t>
              </a:r>
              <a:r>
                <a:rPr lang="zh-CN" sz="1800" b="1" baseline="300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[14]</a:t>
              </a:r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：Caco-2 / RAW264.7共培养</a:t>
              </a:r>
              <a:endParaRPr lang="zh-CN" sz="18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8106" y="3390900"/>
              <a:ext cx="68159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上皮与巨噬细胞配对　→　巨噬细胞炎症输出与上皮屏障变化</a:t>
              </a:r>
              <a:endParaRPr lang="zh-CN" sz="18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5" name="model-interpretation"/>
          <p:cNvGrpSpPr/>
          <p:nvPr/>
        </p:nvGrpSpPr>
        <p:grpSpPr>
          <a:xfrm>
            <a:off x="457200" y="4381500"/>
            <a:ext cx="11277600" cy="1409700"/>
            <a:chOff x="457200" y="4381500"/>
            <a:chExt cx="11277600" cy="1409700"/>
          </a:xfrm>
        </p:grpSpPr>
        <p:sp>
          <p:nvSpPr>
            <p:cNvPr id="24" name="TextBox 24"/>
            <p:cNvSpPr/>
            <p:nvPr/>
          </p:nvSpPr>
          <p:spPr>
            <a:xfrm>
              <a:off x="457200" y="4381500"/>
              <a:ext cx="112776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Kristek等采用CMT-93来源CM处理J774A.1，观察到巨噬细胞表型及刺激应答改变，支持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上皮来源可转移物质具有免疫调节作用。[12] Tanoue等建立Caco-2与RAW264.7共培养模型，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为两种细胞配对研究屏障与炎症提供依据。[14] 两项研究分别支持CM方法和细胞组合；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本研究仍需先确认培养条件相容、细胞活性良好且CM效应稳定，再进行两端分子干预。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69900"/>
              <a:ext cx="489356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研究实施路线与分阶段验证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28" name="experimental-route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685800" y="2095500"/>
              <a:ext cx="23050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3562350" y="2095500"/>
              <a:ext cx="23050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6438900" y="2095500"/>
              <a:ext cx="23050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9315450" y="2095500"/>
              <a:ext cx="21907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86206" y="2305050"/>
              <a:ext cx="14465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动物组织WB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87730" y="2809875"/>
              <a:ext cx="1508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表型与蛋白关联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62756" y="2305050"/>
              <a:ext cx="14465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CM功能评价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764280" y="2809875"/>
              <a:ext cx="1722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明确稳定转移效应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39306" y="2305050"/>
              <a:ext cx="17263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供体DSG2干预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40830" y="2809875"/>
              <a:ext cx="1508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敲低与恢复表达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515856" y="2305050"/>
              <a:ext cx="15900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Siglec-E干预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17380" y="2809875"/>
              <a:ext cx="1508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受体参与与救援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Line 24"/>
            <p:cNvSpPr/>
            <p:nvPr/>
          </p:nvSpPr>
          <p:spPr>
            <a:xfrm>
              <a:off x="3105150" y="2686050"/>
              <a:ext cx="2857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5" name="Line 25"/>
            <p:cNvSpPr/>
            <p:nvPr/>
          </p:nvSpPr>
          <p:spPr>
            <a:xfrm>
              <a:off x="5981700" y="2686050"/>
              <a:ext cx="2857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6" name="Line 26"/>
            <p:cNvSpPr/>
            <p:nvPr/>
          </p:nvSpPr>
          <p:spPr>
            <a:xfrm>
              <a:off x="8858250" y="2686050"/>
              <a:ext cx="2857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68680" y="3581400"/>
              <a:ext cx="77236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细胞身份、支原体、表达/干预效率、活性及CM兼容性预实验贯穿正式比较之前。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0" name="route-interpretation"/>
          <p:cNvGrpSpPr/>
          <p:nvPr/>
        </p:nvGrpSpPr>
        <p:grpSpPr>
          <a:xfrm>
            <a:off x="457200" y="4381500"/>
            <a:ext cx="11277600" cy="1409700"/>
            <a:chOff x="457200" y="4381500"/>
            <a:chExt cx="11277600" cy="1409700"/>
          </a:xfrm>
        </p:grpSpPr>
        <p:sp>
          <p:nvSpPr>
            <p:cNvPr id="29" name="TextBox 29"/>
            <p:cNvSpPr/>
            <p:nvPr/>
          </p:nvSpPr>
          <p:spPr>
            <a:xfrm>
              <a:off x="457200" y="4381500"/>
              <a:ext cx="112776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本研究拟结合动物组织检测与细胞实验，依次评价组织中的相关变化、CM的调节作用，以及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供体DSG2和接收细胞Siglec-E的参与情况。动物蛋白检测可与细胞模型预实验同步开展。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在确认CM效应稳定后，分别进行两端分子的敲低和恢复表达，再考虑组合干预。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若CM效应尚不稳定，应先优化培养与转移条件，再开展活性成分及受体机制研究。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69900"/>
              <a:ext cx="52989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动物组织蛋白检测与细胞定位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436096" cy="800100"/>
            <a:chOff x="451104" y="5962650"/>
            <a:chExt cx="11436096" cy="80010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49824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[21] Dextran sulfate sodium (DSS)-induced colitis in mice.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59058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指标与实施顺序依据最终版Word；归一化、曝光及批次处理细节见本页备注。</a:t>
              </a:r>
              <a:endPara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/>
            <p:nvPr/>
          </p:nvSpPr>
          <p:spPr>
            <a:xfrm>
              <a:off x="11049000" y="6496050"/>
              <a:ext cx="838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810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11 / 16</a:t>
              </a:r>
            </a:p>
          </p:txBody>
        </p:sp>
      </p:grpSp>
      <p:grpSp>
        <p:nvGrpSpPr>
          <p:cNvPr id="23" name="tissue-readouts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095500"/>
              <a:ext cx="2476500" cy="1066800"/>
            </a:xfrm>
            <a:prstGeom prst="roundRect">
              <a:avLst>
                <a:gd name="adj" fmla="val 714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6132" y="2235200"/>
              <a:ext cx="12161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结肠组织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9180" y="2724150"/>
              <a:ext cx="21808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与动物编号 / 表型对应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Line 15"/>
            <p:cNvSpPr/>
            <p:nvPr/>
          </p:nvSpPr>
          <p:spPr>
            <a:xfrm>
              <a:off x="3352800" y="2171700"/>
              <a:ext cx="1143000" cy="419100"/>
            </a:xfrm>
            <a:custGeom>
              <a:avLst/>
              <a:gdLst/>
              <a:ahLst/>
              <a:cxnLst/>
              <a:rect l="l" t="t" r="r" b="b"/>
              <a:pathLst>
                <a:path w="1143000" h="419100">
                  <a:moveTo>
                    <a:pt x="0" y="419100"/>
                  </a:moveTo>
                  <a:lnTo>
                    <a:pt x="11430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3352800" y="2705100"/>
              <a:ext cx="1143000" cy="571500"/>
            </a:xfrm>
            <a:custGeom>
              <a:avLst/>
              <a:gdLst/>
              <a:ahLst/>
              <a:cxnLst/>
              <a:rect l="l" t="t" r="r" b="b"/>
              <a:pathLst>
                <a:path w="1143000" h="571500">
                  <a:moveTo>
                    <a:pt x="0" y="0"/>
                  </a:moveTo>
                  <a:lnTo>
                    <a:pt x="1143000" y="5715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648200" y="1657350"/>
              <a:ext cx="6667500" cy="933450"/>
            </a:xfrm>
            <a:prstGeom prst="roundRect">
              <a:avLst>
                <a:gd name="adj" fmla="val 816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886706" y="1809750"/>
              <a:ext cx="4318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上皮连接：DSG2、ZO-1、Occludin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888230" y="2219325"/>
              <a:ext cx="31455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必要时结合DSG2片段与上皮定位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648200" y="2838450"/>
              <a:ext cx="6667500" cy="933450"/>
            </a:xfrm>
            <a:prstGeom prst="roundRect">
              <a:avLst>
                <a:gd name="adj" fmla="val 816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886706" y="2990850"/>
              <a:ext cx="429114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炎症相关：Siglec-E、p-p65 / 总p65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888230" y="3400425"/>
              <a:ext cx="40904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必要时结合髓系定位与cleaved-caspase-3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5" name="tissue-interpretation"/>
          <p:cNvGrpSpPr/>
          <p:nvPr/>
        </p:nvGrpSpPr>
        <p:grpSpPr>
          <a:xfrm>
            <a:off x="457200" y="4381500"/>
            <a:ext cx="11277600" cy="1409700"/>
            <a:chOff x="457200" y="4381500"/>
            <a:chExt cx="11277600" cy="1409700"/>
          </a:xfrm>
        </p:grpSpPr>
        <p:sp>
          <p:nvSpPr>
            <p:cNvPr id="24" name="TextBox 24"/>
            <p:cNvSpPr/>
            <p:nvPr/>
          </p:nvSpPr>
          <p:spPr>
            <a:xfrm>
              <a:off x="457200" y="4381500"/>
              <a:ext cx="112776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采用结肠组织检测DSG2、ZO-1和Occludin，评价上皮连接状态；检测Siglec-E及p-p65/总p65，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分析免疫相关变化，并与同一动物的实际表型对应。以动物个体为独立样本，统一曝光及分析。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组织Siglec-E还可能受髓系细胞数量变化影响，需结合细胞定位或组成进行解释。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该部分用于建立体内关联，后续通过细胞干预进一步判断两端分子在CM效应中的作用。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556548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CM制备、转移与炎症效应评价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436096" cy="800100"/>
            <a:chOff x="451104" y="5962650"/>
            <a:chExt cx="11436096" cy="800100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98655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[12] Soluble factors from colonic epithelial cells contribute to gut homeostasis by modulating macrophage phenotype.</a:t>
              </a:r>
              <a:endParaRPr lang="en-US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65885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具体收集条件、采样时点和残留评估依据最终版Word及预实验，不直接套用文献参数。</a:t>
              </a:r>
              <a:endPara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/>
            <p:nvPr/>
          </p:nvSpPr>
          <p:spPr>
            <a:xfrm>
              <a:off x="11049000" y="6496050"/>
              <a:ext cx="838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810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12 / 16</a:t>
              </a:r>
            </a:p>
          </p:txBody>
        </p:sp>
      </p:grpSp>
      <p:grpSp>
        <p:nvGrpSpPr>
          <p:cNvPr id="24" name="cm-protocol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1943100"/>
              <a:ext cx="28765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4648200" y="1943100"/>
              <a:ext cx="28765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8534400" y="1943100"/>
              <a:ext cx="28765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98982" y="2073275"/>
              <a:ext cx="12161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供体处理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02030" y="2619375"/>
              <a:ext cx="23301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基础 / 炎症 / 炎症+药物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885182" y="2073275"/>
              <a:ext cx="21122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洗涤换液与收集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888230" y="2619375"/>
              <a:ext cx="23622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统一活细胞量与收集条件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771382" y="2085975"/>
              <a:ext cx="228721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RAW264.7接收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74430" y="2619375"/>
              <a:ext cx="22722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固定CM比例及作用时程</a:t>
              </a:r>
              <a:endPara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Line 21"/>
            <p:cNvSpPr/>
            <p:nvPr/>
          </p:nvSpPr>
          <p:spPr>
            <a:xfrm>
              <a:off x="3771900" y="2533650"/>
              <a:ext cx="7048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2" name="Line 22"/>
            <p:cNvSpPr/>
            <p:nvPr/>
          </p:nvSpPr>
          <p:spPr>
            <a:xfrm>
              <a:off x="7658100" y="2533650"/>
              <a:ext cx="7048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81456" y="3486150"/>
              <a:ext cx="79939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早期：p-p65 / 总p65　　　后期：鼠源Tnf、Il6及TNF-α、IL-6分泌</a:t>
              </a:r>
              <a:endParaRPr lang="zh-CN" sz="18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6" name="cm-protocol-interpretation"/>
          <p:cNvGrpSpPr/>
          <p:nvPr/>
        </p:nvGrpSpPr>
        <p:grpSpPr>
          <a:xfrm>
            <a:off x="457200" y="4381500"/>
            <a:ext cx="11277600" cy="1409700"/>
            <a:chOff x="457200" y="4381500"/>
            <a:chExt cx="11277600" cy="1409700"/>
          </a:xfrm>
        </p:grpSpPr>
        <p:sp>
          <p:nvSpPr>
            <p:cNvPr id="25" name="TextBox 25"/>
            <p:cNvSpPr/>
            <p:nvPr/>
          </p:nvSpPr>
          <p:spPr>
            <a:xfrm>
              <a:off x="457200" y="4381500"/>
              <a:ext cx="112776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334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Caco-2经炎症刺激及药物处理后，洗涤换液并收集CM，统一活细胞量、血清、体积和收集时间。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设置未条件化培养液、无细胞同程孵育及残余药物或刺激物匹配对照，并检测两端细胞活性。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将CM作用于RAW264.7，早期检测p-p65/总p65，后期检测鼠源Tnf、Il6及分泌蛋白。</a:t>
              </a:r>
              <a:br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同时检测输入CM及无接收细胞样本，排查因子带入；具体比例和采样时间由预实验确定。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51104" y="190500"/>
            <a:ext cx="11283696" cy="866775"/>
            <a:chOff x="451104" y="190500"/>
            <a:chExt cx="11283696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/>
            <p:nvPr/>
          </p:nvSpPr>
          <p:spPr>
            <a:xfrm>
              <a:off x="457200" y="476250"/>
              <a:ext cx="112776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4293" rIns="0" bIns="0" anchor="t" anchorCtr="0">
              <a:noAutofit/>
            </a:bodyPr>
            <a:lstStyle/>
            <a:p>
              <a:pPr algn="l"/>
              <a:r>
                <a:rPr lang="zh-CN" sz="2850" b="1" dirty="0">
                  <a:solidFill>
                    <a:srgbClr val="075E45"/>
                  </a:solidFill>
                  <a:latin typeface="Times New Roman"/>
                  <a:ea typeface="SimSun"/>
                  <a:cs typeface="Times New Roman"/>
                </a:rPr>
                <a:t>DSG2是否参与药物CM效应：六组设计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35" name="donor-design"/>
          <p:cNvGrpSpPr/>
          <p:nvPr/>
        </p:nvGrpSpPr>
        <p:grpSpPr>
          <a:xfrm>
            <a:off x="448056" y="1200150"/>
            <a:ext cx="11286744" cy="5587746"/>
            <a:chOff x="448056" y="1200150"/>
            <a:chExt cx="11286744" cy="5587746"/>
          </a:xfrm>
        </p:grpSpPr>
        <p:sp>
          <p:nvSpPr>
            <p:cNvPr id="9" name="TextBox 9"/>
            <p:cNvSpPr txBox="1"/>
            <p:nvPr/>
          </p:nvSpPr>
          <p:spPr>
            <a:xfrm>
              <a:off x="448056" y="1200150"/>
              <a:ext cx="931545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先在Caco-2中改变DSG2及药物处理，再将各组CM作用于未干预的RAW264.7。</a:t>
              </a:r>
            </a:p>
          </p:txBody>
        </p:sp>
        <p:grpSp>
          <p:nvGrpSpPr>
            <p:cNvPr id="27" name="dsg2-groups-table"/>
            <p:cNvGrpSpPr/>
            <p:nvPr/>
          </p:nvGrpSpPr>
          <p:grpSpPr>
            <a:xfrm>
              <a:off x="457200" y="1676400"/>
              <a:ext cx="11277600" cy="2686050"/>
              <a:chOff x="457200" y="1676400"/>
              <a:chExt cx="11277600" cy="26860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457200" y="1676400"/>
                <a:ext cx="11277600" cy="628650"/>
              </a:xfrm>
              <a:prstGeom prst="rect">
                <a:avLst/>
              </a:prstGeom>
              <a:solidFill>
                <a:srgbClr val="E4EFE7"/>
              </a:solidFill>
              <a:ln>
                <a:noFill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457200" y="2305050"/>
                <a:ext cx="11277600" cy="10287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2" name="Rectangle 12"/>
              <p:cNvSpPr/>
              <p:nvPr/>
            </p:nvSpPr>
            <p:spPr>
              <a:xfrm>
                <a:off x="457200" y="3333750"/>
                <a:ext cx="11277600" cy="1028700"/>
              </a:xfrm>
              <a:prstGeom prst="rect">
                <a:avLst/>
              </a:prstGeom>
              <a:solidFill>
                <a:srgbClr val="E8F0F5"/>
              </a:solidFill>
              <a:ln>
                <a:noFill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457200" y="1676400"/>
                <a:ext cx="11277600" cy="2686050"/>
              </a:xfrm>
              <a:prstGeom prst="rect">
                <a:avLst/>
              </a:prstGeom>
              <a:noFill/>
              <a:ln w="9525">
                <a:solidFill>
                  <a:srgbClr val="CAD7CF"/>
                </a:solidFill>
              </a:ln>
            </p:spPr>
          </p:sp>
          <p:sp>
            <p:nvSpPr>
              <p:cNvPr id="14" name="Line 14"/>
              <p:cNvSpPr/>
              <p:nvPr/>
            </p:nvSpPr>
            <p:spPr>
              <a:xfrm>
                <a:off x="3124200" y="1676400"/>
                <a:ext cx="9525" cy="2686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86050">
                    <a:moveTo>
                      <a:pt x="0" y="0"/>
                    </a:moveTo>
                    <a:lnTo>
                      <a:pt x="0" y="2686050"/>
                    </a:lnTo>
                  </a:path>
                </a:pathLst>
              </a:custGeom>
              <a:noFill/>
              <a:ln w="9525">
                <a:solidFill>
                  <a:srgbClr val="CAD7CF"/>
                </a:solidFill>
              </a:ln>
            </p:spPr>
          </p:sp>
          <p:sp>
            <p:nvSpPr>
              <p:cNvPr id="15" name="Line 15"/>
              <p:cNvSpPr/>
              <p:nvPr/>
            </p:nvSpPr>
            <p:spPr>
              <a:xfrm>
                <a:off x="7429500" y="1676400"/>
                <a:ext cx="9525" cy="2686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86050">
                    <a:moveTo>
                      <a:pt x="0" y="0"/>
                    </a:moveTo>
                    <a:lnTo>
                      <a:pt x="0" y="2686050"/>
                    </a:lnTo>
                  </a:path>
                </a:pathLst>
              </a:custGeom>
              <a:noFill/>
              <a:ln w="9525">
                <a:solidFill>
                  <a:srgbClr val="CAD7CF"/>
                </a:solidFill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457200" y="2305050"/>
                <a:ext cx="11277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277600" h="9525">
                    <a:moveTo>
                      <a:pt x="0" y="0"/>
                    </a:moveTo>
                    <a:lnTo>
                      <a:pt x="11277600" y="0"/>
                    </a:lnTo>
                  </a:path>
                </a:pathLst>
              </a:custGeom>
              <a:noFill/>
              <a:ln w="9525">
                <a:solidFill>
                  <a:srgbClr val="CAD7CF"/>
                </a:solidFill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457200" y="3333750"/>
                <a:ext cx="11277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277600" h="9525">
                    <a:moveTo>
                      <a:pt x="0" y="0"/>
                    </a:moveTo>
                    <a:lnTo>
                      <a:pt x="11277600" y="0"/>
                    </a:lnTo>
                  </a:path>
                </a:pathLst>
              </a:custGeom>
              <a:noFill/>
              <a:ln w="9525">
                <a:solidFill>
                  <a:srgbClr val="CAD7CF"/>
                </a:solidFill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571085" y="1847850"/>
                <a:ext cx="243923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Caco-2的DSG2状态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4883658" y="1835150"/>
                <a:ext cx="7863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无药物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9188958" y="1835150"/>
                <a:ext cx="7863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加药物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81456" y="2470150"/>
                <a:ext cx="1618488" cy="675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lnSpc>
                    <a:spcPts val="2550"/>
                  </a:lnSpc>
                </a:pPr>
                <a:r>
                  <a:rPr lang="zh-CN" sz="1800" b="1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DSG2正常</a:t>
                </a:r>
                <a:br>
                  <a:rPr lang="zh-CN" sz="1800" b="1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b="1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（非靶向对照）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4713351" y="2470150"/>
                <a:ext cx="1126998" cy="675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lnSpc>
                    <a:spcPts val="2550"/>
                  </a:lnSpc>
                </a:pP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① 炎症对照</a:t>
                </a:r>
                <a:b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收集CM①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8904351" y="2470150"/>
                <a:ext cx="1355598" cy="675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lnSpc>
                    <a:spcPts val="2550"/>
                  </a:lnSpc>
                </a:pP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② 炎症＋药物</a:t>
                </a:r>
                <a:b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收集CM②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1120902" y="3498850"/>
                <a:ext cx="1339596" cy="675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lnSpc>
                    <a:spcPts val="2550"/>
                  </a:lnSpc>
                </a:pPr>
                <a:r>
                  <a:rPr lang="zh-CN" sz="1800" b="1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DSG2敲低</a:t>
                </a:r>
                <a:br>
                  <a:rPr lang="zh-CN" sz="1800" b="1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b="1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（si-DSG2）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347591" y="3498850"/>
                <a:ext cx="1858518" cy="675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lnSpc>
                    <a:spcPts val="2550"/>
                  </a:lnSpc>
                </a:pP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③ 炎症＋DSG2敲低</a:t>
                </a:r>
                <a:b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收集CM③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8309991" y="3498850"/>
                <a:ext cx="2544318" cy="675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lnSpc>
                    <a:spcPts val="2550"/>
                  </a:lnSpc>
                </a:pP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④ 炎症＋DSG2敲低＋药物</a:t>
                </a:r>
                <a:b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收集CM④</a:t>
                </a:r>
              </a:p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448818" y="4492625"/>
              <a:ext cx="77080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另设基础两组：⑤非炎症＋非靶向对照；⑥非炎症＋DSG2敲低。合计六组。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7200" y="4895850"/>
              <a:ext cx="11277600" cy="876300"/>
            </a:xfrm>
            <a:prstGeom prst="roundRect">
              <a:avLst>
                <a:gd name="adj" fmla="val 8696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8556" y="5000625"/>
              <a:ext cx="9433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75E45"/>
                  </a:solidFill>
                  <a:latin typeface="Times New Roman"/>
                  <a:ea typeface="SimSun"/>
                  <a:cs typeface="Times New Roman"/>
                </a:rPr>
                <a:t>关键比较：先比较①与②，再比较③与④，检验药物CM效应是否因DSG2敲低而改变。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318" y="5359400"/>
              <a:ext cx="80349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四组CM均作用于未进行受体干预的RAW264.7，以保持接收细胞状态一致。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49580" y="5905500"/>
              <a:ext cx="82280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验证：同步检测供体活性和DSG2敲低效率；关键结果结合独立siRNA及恢复表达实验。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9580" y="6238875"/>
              <a:ext cx="77699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检测：RAW264.7中的p-p65 / 总p65、TNF-α、IL-6。表中①—④均为炎症背景。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042904" y="65532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13 / 16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57200" y="476250"/>
            <a:ext cx="11277600" cy="581025"/>
            <a:chOff x="457200" y="476250"/>
            <a:chExt cx="11277600" cy="581025"/>
          </a:xfrm>
        </p:grpSpPr>
        <p:sp>
          <p:nvSpPr>
            <p:cNvPr id="3" name="TextBox 3"/>
            <p:cNvSpPr/>
            <p:nvPr/>
          </p:nvSpPr>
          <p:spPr>
            <a:xfrm>
              <a:off x="457200" y="476250"/>
              <a:ext cx="112776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4293" rIns="0" bIns="0" anchor="t" anchorCtr="0">
              <a:noAutofit/>
            </a:bodyPr>
            <a:lstStyle/>
            <a:p>
              <a:pPr algn="l"/>
              <a:r>
                <a:rPr lang="zh-CN" sz="2850" b="1" dirty="0">
                  <a:solidFill>
                    <a:srgbClr val="075E45"/>
                  </a:solidFill>
                  <a:latin typeface="Times New Roman"/>
                  <a:ea typeface="SimSun"/>
                  <a:cs typeface="Times New Roman"/>
                </a:rPr>
                <a:t>Siglec-E是否参与CM效应：四组设计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33" name="receiver-design"/>
          <p:cNvGrpSpPr/>
          <p:nvPr/>
        </p:nvGrpSpPr>
        <p:grpSpPr>
          <a:xfrm>
            <a:off x="448056" y="1200150"/>
            <a:ext cx="11286744" cy="5587746"/>
            <a:chOff x="448056" y="1200150"/>
            <a:chExt cx="11286744" cy="5587746"/>
          </a:xfrm>
        </p:grpSpPr>
        <p:sp>
          <p:nvSpPr>
            <p:cNvPr id="7" name="TextBox 7"/>
            <p:cNvSpPr txBox="1"/>
            <p:nvPr/>
          </p:nvSpPr>
          <p:spPr>
            <a:xfrm>
              <a:off x="448056" y="1200150"/>
              <a:ext cx="88875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先从Caco-2收集两种CM，再分别作用于两种状态的RAW264.7，形成四组。</a:t>
              </a:r>
            </a:p>
          </p:txBody>
        </p:sp>
        <p:grpSp>
          <p:nvGrpSpPr>
            <p:cNvPr id="25" name="siglec-groups-table"/>
            <p:cNvGrpSpPr/>
            <p:nvPr/>
          </p:nvGrpSpPr>
          <p:grpSpPr>
            <a:xfrm>
              <a:off x="457200" y="1676400"/>
              <a:ext cx="11277600" cy="2686050"/>
              <a:chOff x="457200" y="1676400"/>
              <a:chExt cx="11277600" cy="2686050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457200" y="1676400"/>
                <a:ext cx="11277600" cy="628650"/>
              </a:xfrm>
              <a:prstGeom prst="rect">
                <a:avLst/>
              </a:prstGeom>
              <a:solidFill>
                <a:srgbClr val="E4EFE7"/>
              </a:solidFill>
              <a:ln>
                <a:noFill/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457200" y="2305050"/>
                <a:ext cx="11277600" cy="10287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457200" y="3333750"/>
                <a:ext cx="11277600" cy="1028700"/>
              </a:xfrm>
              <a:prstGeom prst="rect">
                <a:avLst/>
              </a:prstGeom>
              <a:solidFill>
                <a:srgbClr val="E8F0F5"/>
              </a:solidFill>
              <a:ln>
                <a:noFill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457200" y="1676400"/>
                <a:ext cx="11277600" cy="2686050"/>
              </a:xfrm>
              <a:prstGeom prst="rect">
                <a:avLst/>
              </a:prstGeom>
              <a:noFill/>
              <a:ln w="9525">
                <a:solidFill>
                  <a:srgbClr val="CAD7CF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3124200" y="1676400"/>
                <a:ext cx="9525" cy="2686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86050">
                    <a:moveTo>
                      <a:pt x="0" y="0"/>
                    </a:moveTo>
                    <a:lnTo>
                      <a:pt x="0" y="2686050"/>
                    </a:lnTo>
                  </a:path>
                </a:pathLst>
              </a:custGeom>
              <a:noFill/>
              <a:ln w="9525">
                <a:solidFill>
                  <a:srgbClr val="CAD7CF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7429500" y="1676400"/>
                <a:ext cx="9525" cy="2686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86050">
                    <a:moveTo>
                      <a:pt x="0" y="0"/>
                    </a:moveTo>
                    <a:lnTo>
                      <a:pt x="0" y="2686050"/>
                    </a:lnTo>
                  </a:path>
                </a:pathLst>
              </a:custGeom>
              <a:noFill/>
              <a:ln w="9525">
                <a:solidFill>
                  <a:srgbClr val="CAD7CF"/>
                </a:solidFill>
              </a:ln>
            </p:spPr>
          </p:sp>
          <p:sp>
            <p:nvSpPr>
              <p:cNvPr id="14" name="Line 14"/>
              <p:cNvSpPr/>
              <p:nvPr/>
            </p:nvSpPr>
            <p:spPr>
              <a:xfrm>
                <a:off x="457200" y="2305050"/>
                <a:ext cx="11277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277600" h="9525">
                    <a:moveTo>
                      <a:pt x="0" y="0"/>
                    </a:moveTo>
                    <a:lnTo>
                      <a:pt x="11277600" y="0"/>
                    </a:lnTo>
                  </a:path>
                </a:pathLst>
              </a:custGeom>
              <a:noFill/>
              <a:ln w="9525">
                <a:solidFill>
                  <a:srgbClr val="CAD7CF"/>
                </a:solidFill>
              </a:ln>
            </p:spPr>
          </p:sp>
          <p:sp>
            <p:nvSpPr>
              <p:cNvPr id="15" name="Line 15"/>
              <p:cNvSpPr/>
              <p:nvPr/>
            </p:nvSpPr>
            <p:spPr>
              <a:xfrm>
                <a:off x="457200" y="3333750"/>
                <a:ext cx="11277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277600" h="9525">
                    <a:moveTo>
                      <a:pt x="0" y="0"/>
                    </a:moveTo>
                    <a:lnTo>
                      <a:pt x="11277600" y="0"/>
                    </a:lnTo>
                  </a:path>
                </a:pathLst>
              </a:custGeom>
              <a:noFill/>
              <a:ln w="9525">
                <a:solidFill>
                  <a:srgbClr val="CAD7CF"/>
                </a:solidFill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774710" y="1847850"/>
                <a:ext cx="203198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RAW264.7状态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4799487" y="1847850"/>
                <a:ext cx="95472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炎症CM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8848755" y="1847850"/>
                <a:ext cx="146678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药物供体CM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81456" y="2470150"/>
                <a:ext cx="1618488" cy="675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lnSpc>
                    <a:spcPts val="2550"/>
                  </a:lnSpc>
                </a:pPr>
                <a:r>
                  <a:rPr lang="zh-CN" sz="1800" b="1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Siglec-E正常</a:t>
                </a:r>
                <a:br>
                  <a:rPr lang="zh-CN" sz="1800" b="1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b="1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（非靶向对照）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713351" y="2470150"/>
                <a:ext cx="1126998" cy="675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lnSpc>
                    <a:spcPts val="2550"/>
                  </a:lnSpc>
                </a:pP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① 对照细胞</a:t>
                </a:r>
                <a:b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＋炎症CM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8852916" y="2470150"/>
                <a:ext cx="1458468" cy="675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lnSpc>
                    <a:spcPts val="2550"/>
                  </a:lnSpc>
                </a:pP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② 对照细胞</a:t>
                </a:r>
                <a:b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＋药物供体CM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982885" y="3498850"/>
                <a:ext cx="1615630" cy="675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lnSpc>
                    <a:spcPts val="2550"/>
                  </a:lnSpc>
                </a:pPr>
                <a:r>
                  <a:rPr lang="zh-CN" sz="1800" b="1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Siglec-E敲低</a:t>
                </a:r>
                <a:br>
                  <a:rPr lang="zh-CN" sz="1800" b="1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b="1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（si-Siglece）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713351" y="3498850"/>
                <a:ext cx="1126998" cy="675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lnSpc>
                    <a:spcPts val="2550"/>
                  </a:lnSpc>
                </a:pP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③ 敲低细胞</a:t>
                </a:r>
                <a:b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＋炎症CM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852916" y="3498850"/>
                <a:ext cx="1458468" cy="675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>
                  <a:lnSpc>
                    <a:spcPts val="2550"/>
                  </a:lnSpc>
                </a:pP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④ 敲低细胞</a:t>
                </a:r>
                <a:b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</a:br>
                <a:r>
                  <a:rPr lang="zh-CN" sz="1800" dirty="0">
                    <a:solidFill>
                      <a:srgbClr val="18312E"/>
                    </a:solidFill>
                    <a:latin typeface="Times New Roman"/>
                    <a:ea typeface="SimSun"/>
                    <a:cs typeface="Times New Roman"/>
                  </a:rPr>
                  <a:t>＋药物供体CM</a:t>
                </a:r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448818" y="4492625"/>
              <a:ext cx="714146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同批配对：同一批炎症CM分给①和③；同一批药物供体CM分给②和④。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7200" y="4895850"/>
              <a:ext cx="11277600" cy="876300"/>
            </a:xfrm>
            <a:prstGeom prst="roundRect">
              <a:avLst>
                <a:gd name="adj" fmla="val 8696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8556" y="5000625"/>
              <a:ext cx="57303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75E45"/>
                  </a:solidFill>
                  <a:latin typeface="Times New Roman"/>
                  <a:ea typeface="SimSun"/>
                  <a:cs typeface="Times New Roman"/>
                </a:rPr>
                <a:t>关键比较：①与②的差异，是否不同于③与④的差异？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18" y="5359400"/>
              <a:ext cx="74932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若Siglec-E敲低后药物供体CM的作用减弱，支持Siglec-E参与该效应。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49580" y="5905500"/>
              <a:ext cx="74245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两种CM均按相同洗涤换液及收集流程制备；本页Caco-2端不进行DSG2敲低。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49580" y="6238875"/>
              <a:ext cx="87864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8312E"/>
                  </a:solidFill>
                  <a:latin typeface="Times New Roman"/>
                  <a:ea typeface="SimSun"/>
                  <a:cs typeface="Times New Roman"/>
                </a:rPr>
                <a:t>检测：p-p65 / 总p65、TNF-α、IL-6；关键结果结合细胞活性、敲低效率及恢复表达验证。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042904" y="65532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2615D"/>
                  </a:solidFill>
                  <a:latin typeface="Times New Roman"/>
                  <a:ea typeface="Times New Roman"/>
                  <a:cs typeface="Times New Roman"/>
                </a:rPr>
                <a:t>14 / 16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  <a:endParaRPr lang="zh-CN" sz="12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805758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DSG2相关上皮变化介导免疫调节的机制假说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41" name="cellular-mechanism"/>
          <p:cNvGrpSpPr/>
          <p:nvPr/>
        </p:nvGrpSpPr>
        <p:grpSpPr>
          <a:xfrm>
            <a:off x="457200" y="1143531"/>
            <a:ext cx="11277600" cy="5619219"/>
            <a:chOff x="457200" y="1143531"/>
            <a:chExt cx="11277600" cy="5619219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866900" y="1143000"/>
              <a:ext cx="8458200" cy="4762500"/>
            </a:xfrm>
            <a:prstGeom prst="rect">
              <a:avLst/>
            </a:prstGeom>
            <a:solidFill>
              <a:srgbClr val="E4EFE7"/>
            </a:solidFill>
            <a:ln>
              <a:noFill/>
            </a:ln>
          </p:spPr>
        </p:pic>
        <p:grpSp>
          <p:nvGrpSpPr>
            <p:cNvPr id="36" name="mechanism-labels"/>
            <p:cNvGrpSpPr/>
            <p:nvPr/>
          </p:nvGrpSpPr>
          <p:grpSpPr>
            <a:xfrm>
              <a:off x="457200" y="1219200"/>
              <a:ext cx="11277600" cy="5543550"/>
              <a:chOff x="457200" y="1219200"/>
              <a:chExt cx="11277600" cy="5543550"/>
            </a:xfrm>
          </p:grpSpPr>
          <p:sp>
            <p:nvSpPr>
              <p:cNvPr id="42" name="Rectangle 4"/>
              <p:cNvSpPr/>
              <p:nvPr/>
            </p:nvSpPr>
            <p:spPr>
              <a:xfrm>
                <a:off x="2095500" y="1219200"/>
                <a:ext cx="2476500" cy="381000"/>
              </a:xfrm>
              <a:prstGeom prst="roundRect">
                <a:avLst>
                  <a:gd name="adj" fmla="val 20000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2238756" y="1257300"/>
                <a:ext cx="223312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Caco-2肠上皮细胞</a:t>
                </a:r>
              </a:p>
            </p:txBody>
          </p:sp>
          <p:sp>
            <p:nvSpPr>
              <p:cNvPr id="7" name="Rectangle 7"/>
              <p:cNvSpPr/>
              <p:nvPr/>
            </p:nvSpPr>
            <p:spPr>
              <a:xfrm>
                <a:off x="7505700" y="1219200"/>
                <a:ext cx="3143250" cy="381000"/>
              </a:xfrm>
              <a:prstGeom prst="roundRect">
                <a:avLst>
                  <a:gd name="adj" fmla="val 20000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7648956" y="1257300"/>
                <a:ext cx="254404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RAW264.7巨噬细胞</a:t>
                </a:r>
              </a:p>
            </p:txBody>
          </p:sp>
          <p:sp>
            <p:nvSpPr>
              <p:cNvPr id="9" name="Rectangle 9"/>
              <p:cNvSpPr/>
              <p:nvPr/>
            </p:nvSpPr>
            <p:spPr>
              <a:xfrm>
                <a:off x="457200" y="1924050"/>
                <a:ext cx="1428750" cy="609600"/>
              </a:xfrm>
              <a:prstGeom prst="roundRect">
                <a:avLst>
                  <a:gd name="adj" fmla="val 12500"/>
                </a:avLst>
              </a:prstGeom>
              <a:solidFill>
                <a:srgbClr val="E4EFE7"/>
              </a:solidFill>
              <a:ln>
                <a:noFill/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695706" y="2054225"/>
                <a:ext cx="104241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药物处理</a:t>
                </a:r>
              </a:p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1943100" y="2228850"/>
                <a:ext cx="80010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800100" h="342900">
                    <a:moveTo>
                      <a:pt x="0" y="0"/>
                    </a:moveTo>
                    <a:lnTo>
                      <a:pt x="800100" y="342900"/>
                    </a:lnTo>
                  </a:path>
                </a:pathLst>
              </a:custGeom>
              <a:noFill/>
              <a:ln w="28575">
                <a:solidFill>
                  <a:srgbClr val="B16C23"/>
                </a:solidFill>
                <a:custDash>
                  <a:ds d="266667" sp="166667"/>
                </a:custDash>
                <a:tailEnd type="triangle" w="lg" len="lg"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457200" y="3505200"/>
                <a:ext cx="2095500" cy="800100"/>
              </a:xfrm>
              <a:prstGeom prst="roundRect">
                <a:avLst>
                  <a:gd name="adj" fmla="val 9524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600456" y="3562350"/>
                <a:ext cx="176058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DSG2相关变化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601980" y="3914775"/>
                <a:ext cx="193548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52615D"/>
                    </a:solidFill>
                    <a:latin typeface="Times New Roman"/>
                    <a:ea typeface="SimSun"/>
                    <a:cs typeface="Times New Roman"/>
                  </a:rPr>
                  <a:t>敲低与恢复表达验证</a:t>
                </a:r>
              </a:p>
            </p:txBody>
          </p:sp>
          <p:sp>
            <p:nvSpPr>
              <p:cNvPr id="16" name="Line 16"/>
              <p:cNvSpPr/>
              <p:nvPr/>
            </p:nvSpPr>
            <p:spPr>
              <a:xfrm>
                <a:off x="2590800" y="3829050"/>
                <a:ext cx="78105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81050" h="76200">
                    <a:moveTo>
                      <a:pt x="0" y="76200"/>
                    </a:moveTo>
                    <a:lnTo>
                      <a:pt x="781050" y="0"/>
                    </a:lnTo>
                  </a:path>
                </a:pathLst>
              </a:custGeom>
              <a:noFill/>
              <a:ln w="19050">
                <a:solidFill>
                  <a:srgbClr val="075E45"/>
                </a:solidFill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4953000" y="1657350"/>
                <a:ext cx="2190750" cy="800100"/>
              </a:xfrm>
              <a:prstGeom prst="roundRect">
                <a:avLst>
                  <a:gd name="adj" fmla="val 9524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5096256" y="1714500"/>
                <a:ext cx="146678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上皮来源CM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097780" y="2076450"/>
                <a:ext cx="214884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52615D"/>
                    </a:solidFill>
                    <a:latin typeface="Times New Roman"/>
                    <a:ea typeface="SimSun"/>
                    <a:cs typeface="Times New Roman"/>
                  </a:rPr>
                  <a:t>作用成分待进一步鉴定</a:t>
                </a:r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5753100" y="2628900"/>
                <a:ext cx="9525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00" h="228600">
                    <a:moveTo>
                      <a:pt x="0" y="0"/>
                    </a:moveTo>
                    <a:lnTo>
                      <a:pt x="952500" y="228600"/>
                    </a:lnTo>
                  </a:path>
                </a:pathLst>
              </a:custGeom>
              <a:noFill/>
              <a:ln w="28575">
                <a:solidFill>
                  <a:srgbClr val="B16C23"/>
                </a:solidFill>
                <a:custDash>
                  <a:ds d="266667" sp="166667"/>
                </a:custDash>
                <a:tailEnd type="triangle" w="lg" len="lg"/>
              </a:ln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6191250" y="3371850"/>
                <a:ext cx="1828800" cy="800100"/>
              </a:xfrm>
              <a:prstGeom prst="roundRect">
                <a:avLst>
                  <a:gd name="adj" fmla="val 9524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6334506" y="3441700"/>
                <a:ext cx="113093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b="1" dirty="0">
                    <a:solidFill>
                      <a:srgbClr val="075E45"/>
                    </a:solidFill>
                    <a:latin typeface="Times New Roman"/>
                    <a:ea typeface="Times New Roman"/>
                    <a:cs typeface="Times New Roman"/>
                  </a:rPr>
                  <a:t>Siglec-E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336030" y="3781425"/>
                <a:ext cx="193548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52615D"/>
                    </a:solidFill>
                    <a:latin typeface="Times New Roman"/>
                    <a:ea typeface="SimSun"/>
                    <a:cs typeface="Times New Roman"/>
                  </a:rPr>
                  <a:t>敲低与恢复表达验证</a:t>
                </a:r>
              </a:p>
            </p:txBody>
          </p:sp>
          <p:sp>
            <p:nvSpPr>
              <p:cNvPr id="24" name="Line 24"/>
              <p:cNvSpPr/>
              <p:nvPr/>
            </p:nvSpPr>
            <p:spPr>
              <a:xfrm>
                <a:off x="7010400" y="2933700"/>
                <a:ext cx="19050" cy="400050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400050">
                    <a:moveTo>
                      <a:pt x="0" y="400050"/>
                    </a:moveTo>
                    <a:lnTo>
                      <a:pt x="19050" y="0"/>
                    </a:lnTo>
                  </a:path>
                </a:pathLst>
              </a:custGeom>
              <a:noFill/>
              <a:ln w="19050">
                <a:solidFill>
                  <a:srgbClr val="075E45"/>
                </a:solidFill>
              </a:ln>
            </p:spPr>
          </p:sp>
          <p:sp>
            <p:nvSpPr>
              <p:cNvPr id="25" name="Rectangle 25"/>
              <p:cNvSpPr/>
              <p:nvPr/>
            </p:nvSpPr>
            <p:spPr>
              <a:xfrm>
                <a:off x="8248650" y="2705100"/>
                <a:ext cx="2514600" cy="838200"/>
              </a:xfrm>
              <a:prstGeom prst="roundRect">
                <a:avLst>
                  <a:gd name="adj" fmla="val 9091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8391906" y="2781300"/>
                <a:ext cx="190052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NF-κB相关信号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8393430" y="3143250"/>
                <a:ext cx="183946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52615D"/>
                    </a:solidFill>
                    <a:latin typeface="Times New Roman"/>
                    <a:ea typeface="SimSun"/>
                    <a:cs typeface="Times New Roman"/>
                  </a:rPr>
                  <a:t>检测p-p65 / 总p65</a:t>
                </a:r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7277100" y="2876550"/>
                <a:ext cx="8382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838200" h="114300">
                    <a:moveTo>
                      <a:pt x="0" y="0"/>
                    </a:moveTo>
                    <a:lnTo>
                      <a:pt x="838200" y="114300"/>
                    </a:lnTo>
                  </a:path>
                </a:pathLst>
              </a:custGeom>
              <a:noFill/>
              <a:ln w="28575">
                <a:solidFill>
                  <a:srgbClr val="B16C23"/>
                </a:solidFill>
                <a:custDash>
                  <a:ds d="266667" sp="166667"/>
                </a:custDash>
                <a:tailEnd type="triangle" w="lg" len="lg"/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9848850" y="4095750"/>
                <a:ext cx="1885950" cy="800100"/>
              </a:xfrm>
              <a:prstGeom prst="roundRect">
                <a:avLst>
                  <a:gd name="adj" fmla="val 9524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9992106" y="4149725"/>
                <a:ext cx="104241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炎症反应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993630" y="4514850"/>
                <a:ext cx="141484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52615D"/>
                    </a:solidFill>
                    <a:latin typeface="Times New Roman"/>
                    <a:ea typeface="SimSun"/>
                    <a:cs typeface="Times New Roman"/>
                  </a:rPr>
                  <a:t>TNF-α、IL-6</a:t>
                </a:r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10096500" y="3619500"/>
                <a:ext cx="495300" cy="361950"/>
              </a:xfrm>
              <a:custGeom>
                <a:avLst/>
                <a:gdLst/>
                <a:ahLst/>
                <a:cxnLst/>
                <a:rect l="l" t="t" r="r" b="b"/>
                <a:pathLst>
                  <a:path w="495300" h="361950">
                    <a:moveTo>
                      <a:pt x="0" y="0"/>
                    </a:moveTo>
                    <a:lnTo>
                      <a:pt x="495300" y="361950"/>
                    </a:lnTo>
                  </a:path>
                </a:pathLst>
              </a:custGeom>
              <a:noFill/>
              <a:ln w="28575">
                <a:solidFill>
                  <a:srgbClr val="B16C23"/>
                </a:solidFill>
                <a:custDash>
                  <a:ds d="266667" sp="166667"/>
                </a:custDash>
                <a:tailEnd type="triangle" w="lg" len="lg"/>
              </a:ln>
            </p:spPr>
          </p:sp>
          <p:sp>
            <p:nvSpPr>
              <p:cNvPr id="33" name="Rectangle 33"/>
              <p:cNvSpPr/>
              <p:nvPr/>
            </p:nvSpPr>
            <p:spPr>
              <a:xfrm>
                <a:off x="457200" y="6019800"/>
                <a:ext cx="11277600" cy="742950"/>
              </a:xfrm>
              <a:prstGeom prst="roundRect">
                <a:avLst>
                  <a:gd name="adj" fmla="val 10256"/>
                </a:avLst>
              </a:prstGeom>
              <a:solidFill>
                <a:srgbClr val="E4EFE7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621030" y="6086475"/>
                <a:ext cx="933531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075E45"/>
                    </a:solidFill>
                    <a:latin typeface="Times New Roman"/>
                    <a:ea typeface="SimSun"/>
                    <a:cs typeface="Times New Roman"/>
                  </a:rPr>
                  <a:t>拟验证：药物处理 → 上皮DSG2相关变化 → CM效应改变 → Siglec-E参与 → NF-κB及炎症反应变化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21030" y="6391275"/>
                <a:ext cx="863258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52615D"/>
                    </a:solidFill>
                    <a:latin typeface="Times New Roman"/>
                    <a:ea typeface="SimSun"/>
                    <a:cs typeface="Times New Roman"/>
                  </a:rPr>
                  <a:t>虚线表示待验证作用；两端分子均参与CM效应，也不能直接证明DSG2与鼠Siglec-E结合。</a:t>
                </a: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" name="文本框 12"/>
          <p:cNvSpPr txBox="1"/>
          <p:nvPr/>
        </p:nvSpPr>
        <p:spPr>
          <a:xfrm>
            <a:off x="8735060" y="1986280"/>
            <a:ext cx="1282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E8-INOS</a:t>
            </a:r>
            <a:endParaRPr lang="en-US" altLang="zh-CN"/>
          </a:p>
        </p:txBody>
      </p:sp>
      <p:grpSp>
        <p:nvGrpSpPr>
          <p:cNvPr id="2" name="组合 1"/>
          <p:cNvGrpSpPr/>
          <p:nvPr/>
        </p:nvGrpSpPr>
        <p:grpSpPr>
          <a:xfrm>
            <a:off x="2341880" y="1490345"/>
            <a:ext cx="6393600" cy="1360170"/>
            <a:chOff x="3783" y="2219"/>
            <a:chExt cx="9031" cy="2142"/>
          </a:xfrm>
        </p:grpSpPr>
        <p:pic>
          <p:nvPicPr>
            <p:cNvPr id="14" name="图片 13" descr="E8-INOS_R 1_Lng_LVCC Merged_Crop003_Crop001_Crop00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0546" y="2219"/>
              <a:ext cx="2268" cy="2143"/>
            </a:xfrm>
            <a:prstGeom prst="rect">
              <a:avLst/>
            </a:prstGeom>
          </p:spPr>
        </p:pic>
        <p:pic>
          <p:nvPicPr>
            <p:cNvPr id="15" name="图片 14" descr="E8-INOS_R 1_Lng_LVCC Merged_Crop003_Crop001_Crop001_ch0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83" y="2219"/>
              <a:ext cx="2268" cy="2143"/>
            </a:xfrm>
            <a:prstGeom prst="rect">
              <a:avLst/>
            </a:prstGeom>
          </p:spPr>
        </p:pic>
        <p:pic>
          <p:nvPicPr>
            <p:cNvPr id="16" name="图片 15" descr="E8-INOS_R 1_Lng_LVCC Merged_Crop003_Crop001_Crop001_ch0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1" y="2219"/>
              <a:ext cx="2268" cy="2143"/>
            </a:xfrm>
            <a:prstGeom prst="rect">
              <a:avLst/>
            </a:prstGeom>
          </p:spPr>
        </p:pic>
        <p:pic>
          <p:nvPicPr>
            <p:cNvPr id="17" name="图片 16" descr="E8-INOS_R 1_Lng_LVCC Merged_Crop003_Crop001_Crop001_ch0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78" y="2219"/>
              <a:ext cx="2268" cy="2143"/>
            </a:xfrm>
            <a:prstGeom prst="rect">
              <a:avLst/>
            </a:prstGeom>
          </p:spPr>
        </p:pic>
      </p:grpSp>
      <p:pic>
        <p:nvPicPr>
          <p:cNvPr id="26" name="图片 25" descr="E8-206_R 1_Lng_LVCC Merged_Crop005_Crop001_ch0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1800" y="3759835"/>
            <a:ext cx="1599318" cy="1360800"/>
          </a:xfrm>
          <a:prstGeom prst="rect">
            <a:avLst/>
          </a:prstGeom>
        </p:spPr>
      </p:pic>
      <p:pic>
        <p:nvPicPr>
          <p:cNvPr id="27" name="图片 26" descr="E8-206_R 1_Lng_LVCC Merged_Crop005_Crop00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1365" y="3759835"/>
            <a:ext cx="1599318" cy="1360800"/>
          </a:xfrm>
          <a:prstGeom prst="rect">
            <a:avLst/>
          </a:prstGeom>
        </p:spPr>
      </p:pic>
      <p:pic>
        <p:nvPicPr>
          <p:cNvPr id="28" name="图片 27" descr="E8-206_R 1_Lng_LVCC Merged_Crop005_Crop001_ch0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22830" y="3759835"/>
            <a:ext cx="1599318" cy="1360800"/>
          </a:xfrm>
          <a:prstGeom prst="rect">
            <a:avLst/>
          </a:prstGeom>
        </p:spPr>
      </p:pic>
      <p:pic>
        <p:nvPicPr>
          <p:cNvPr id="29" name="图片 28" descr="E8-206_R 1_Lng_LVCC Merged_Crop005_Crop001_ch0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2395" y="3759835"/>
            <a:ext cx="1599318" cy="1360800"/>
          </a:xfrm>
          <a:prstGeom prst="rect">
            <a:avLst/>
          </a:prstGeom>
        </p:spPr>
      </p:pic>
      <p:sp>
        <p:nvSpPr>
          <p:cNvPr id="30" name="文本框 29"/>
          <p:cNvSpPr txBox="1"/>
          <p:nvPr/>
        </p:nvSpPr>
        <p:spPr>
          <a:xfrm>
            <a:off x="8710930" y="4255770"/>
            <a:ext cx="1282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E8-CD206</a:t>
            </a:r>
            <a:endParaRPr lang="en-US" altLang="zh-CN"/>
          </a:p>
        </p:txBody>
      </p:sp>
      <p:sp>
        <p:nvSpPr>
          <p:cNvPr id="31" name="文本框 30"/>
          <p:cNvSpPr txBox="1"/>
          <p:nvPr/>
        </p:nvSpPr>
        <p:spPr>
          <a:xfrm>
            <a:off x="1070610" y="1571625"/>
            <a:ext cx="128016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solidFill>
                  <a:srgbClr val="00B050"/>
                </a:solidFill>
              </a:rPr>
              <a:t>INOS</a:t>
            </a:r>
            <a:endParaRPr lang="en-US" altLang="zh-CN">
              <a:solidFill>
                <a:srgbClr val="00B050"/>
              </a:solidFill>
            </a:endParaRPr>
          </a:p>
          <a:p>
            <a:pPr algn="ctr"/>
            <a:r>
              <a:rPr lang="en-US" altLang="zh-CN">
                <a:solidFill>
                  <a:srgbClr val="FF0000"/>
                </a:solidFill>
              </a:rPr>
              <a:t>CD68</a:t>
            </a:r>
            <a:endParaRPr lang="en-US" altLang="zh-CN">
              <a:solidFill>
                <a:srgbClr val="FF0000"/>
              </a:solidFill>
            </a:endParaRPr>
          </a:p>
          <a:p>
            <a:pPr algn="ctr"/>
            <a:r>
              <a:rPr lang="en-US" altLang="zh-CN">
                <a:solidFill>
                  <a:schemeClr val="tx2">
                    <a:lumMod val="60000"/>
                    <a:lumOff val="40000"/>
                  </a:schemeClr>
                </a:solidFill>
              </a:rPr>
              <a:t>DAPI</a:t>
            </a:r>
            <a:endParaRPr lang="en-US" altLang="zh-CN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algn="ctr"/>
            <a:r>
              <a:rPr lang="en-US" altLang="zh-CN"/>
              <a:t>M</a:t>
            </a:r>
            <a:r>
              <a:rPr lang="en-US" altLang="zh-CN"/>
              <a:t>erge</a:t>
            </a:r>
            <a:endParaRPr lang="en-US" altLang="zh-CN"/>
          </a:p>
        </p:txBody>
      </p:sp>
      <p:sp>
        <p:nvSpPr>
          <p:cNvPr id="32" name="文本框 31"/>
          <p:cNvSpPr txBox="1"/>
          <p:nvPr/>
        </p:nvSpPr>
        <p:spPr>
          <a:xfrm>
            <a:off x="1042670" y="3841115"/>
            <a:ext cx="128016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solidFill>
                  <a:srgbClr val="00B050"/>
                </a:solidFill>
              </a:rPr>
              <a:t>CD206</a:t>
            </a:r>
            <a:endParaRPr lang="en-US" altLang="zh-CN">
              <a:solidFill>
                <a:srgbClr val="00B050"/>
              </a:solidFill>
            </a:endParaRPr>
          </a:p>
          <a:p>
            <a:pPr algn="ctr"/>
            <a:r>
              <a:rPr lang="en-US" altLang="zh-CN">
                <a:solidFill>
                  <a:srgbClr val="FF0000"/>
                </a:solidFill>
              </a:rPr>
              <a:t>CD68</a:t>
            </a:r>
            <a:endParaRPr lang="en-US" altLang="zh-CN">
              <a:solidFill>
                <a:srgbClr val="FF0000"/>
              </a:solidFill>
            </a:endParaRPr>
          </a:p>
          <a:p>
            <a:pPr algn="ctr"/>
            <a:r>
              <a:rPr lang="en-US" altLang="zh-CN">
                <a:solidFill>
                  <a:schemeClr val="tx2">
                    <a:lumMod val="60000"/>
                    <a:lumOff val="40000"/>
                  </a:schemeClr>
                </a:solidFill>
              </a:rPr>
              <a:t>DAPI</a:t>
            </a:r>
            <a:endParaRPr lang="en-US" altLang="zh-CN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algn="ctr"/>
            <a:r>
              <a:rPr lang="en-US" altLang="zh-CN"/>
              <a:t>M</a:t>
            </a:r>
            <a:r>
              <a:rPr lang="en-US" altLang="zh-CN"/>
              <a:t>erge</a:t>
            </a:r>
            <a:endParaRPr lang="en-US" altLang="zh-C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SG2_Siglec_final">
  <a:themeElements>
    <a:clrScheme name="DSG2_Siglec_final">
      <a:dk1>
        <a:srgbClr val="18312E"/>
      </a:dk1>
      <a:lt1>
        <a:srgbClr val="F2F3F2"/>
      </a:lt1>
      <a:dk2>
        <a:srgbClr val="1F497D"/>
      </a:dk2>
      <a:lt2>
        <a:srgbClr val="FFFFFF"/>
      </a:lt2>
      <a:accent1>
        <a:srgbClr val="075E45"/>
      </a:accent1>
      <a:accent2>
        <a:srgbClr val="00A65A"/>
      </a:accent2>
      <a:accent3>
        <a:srgbClr val="B16C23"/>
      </a:accent3>
      <a:accent4>
        <a:srgbClr val="075E45"/>
      </a:accent4>
      <a:accent5>
        <a:srgbClr val="52615D"/>
      </a:accent5>
      <a:accent6>
        <a:srgbClr val="CAD7CF"/>
      </a:accent6>
      <a:hlink>
        <a:srgbClr val="00A65A"/>
      </a:hlink>
      <a:folHlink>
        <a:srgbClr val="B16C23"/>
      </a:folHlink>
    </a:clrScheme>
    <a:fontScheme name="DSG2_Siglec_final">
      <a:maj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SG2_Siglec_fin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SG2_Siglec_final">
  <a:themeElements>
    <a:clrScheme name="DSG2_Siglec_final">
      <a:dk1>
        <a:srgbClr val="18312E"/>
      </a:dk1>
      <a:lt1>
        <a:srgbClr val="F2F3F2"/>
      </a:lt1>
      <a:dk2>
        <a:srgbClr val="1F497D"/>
      </a:dk2>
      <a:lt2>
        <a:srgbClr val="FFFFFF"/>
      </a:lt2>
      <a:accent1>
        <a:srgbClr val="075E45"/>
      </a:accent1>
      <a:accent2>
        <a:srgbClr val="00A65A"/>
      </a:accent2>
      <a:accent3>
        <a:srgbClr val="B16C23"/>
      </a:accent3>
      <a:accent4>
        <a:srgbClr val="075E45"/>
      </a:accent4>
      <a:accent5>
        <a:srgbClr val="52615D"/>
      </a:accent5>
      <a:accent6>
        <a:srgbClr val="CAD7CF"/>
      </a:accent6>
      <a:hlink>
        <a:srgbClr val="00A65A"/>
      </a:hlink>
      <a:folHlink>
        <a:srgbClr val="B16C23"/>
      </a:folHlink>
    </a:clrScheme>
    <a:fontScheme name="DSG2_Siglec_final">
      <a:maj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SG2_Siglec_fin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6196</Words>
  <Application>WPS 演示</Application>
  <PresentationFormat>On-screen Show (16:9)</PresentationFormat>
  <Paragraphs>333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4" baseType="lpstr">
      <vt:lpstr>Arial</vt:lpstr>
      <vt:lpstr>宋体</vt:lpstr>
      <vt:lpstr>Wingdings</vt:lpstr>
      <vt:lpstr>Arial</vt:lpstr>
      <vt:lpstr>Times New Roman</vt:lpstr>
      <vt:lpstr>微软雅黑</vt:lpstr>
      <vt:lpstr>Arial Unicode MS</vt:lpstr>
      <vt:lpstr>DSG2_Siglec_final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笙</cp:lastModifiedBy>
  <cp:revision>3</cp:revision>
  <dcterms:created xsi:type="dcterms:W3CDTF">2026-10-15T13:49:00Z</dcterms:created>
  <dcterms:modified xsi:type="dcterms:W3CDTF">2026-10-16T02:10:54Z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8A80368BE0594BC591C7DEDF2DB263EA_13</vt:lpwstr>
  </property>
</Properties>
</file>