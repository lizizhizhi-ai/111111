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肠上皮连接与固有层髓系细胞的空间关系（概念示意）。</a:t>
            </a:r>
          </a:p>
          <a:p>
            <a:pPr/>
            <a:endParaRPr lang="zh-CN" dirty="0"/>
          </a:p>
          <a:p>
            <a:pPr/>
            <a:r>
              <a:rPr lang="zh-CN" dirty="0"/>
              <a:t>肠上皮通过桥粒、紧密连接与黏附连接维持屏障完整性。屏障受损可增加黏膜对肠腔抗原及炎症刺激的暴露，促进免疫活化。[1]；炎症反应又可进一步损伤上皮，形成屏障障碍与免疫失衡的相互促进。本研究据此关注上皮状态改变及其对巨噬细胞炎症反应的影响。。</a:t>
            </a:r>
          </a:p>
          <a:p>
            <a:pPr/>
            <a:endParaRPr lang="zh-CN" dirty="0"/>
          </a:p>
          <a:p>
            <a:pPr/>
            <a:r>
              <a:rPr lang="zh-CN" dirty="0"/>
              <a:t>文档记载动物实验已完成，但未给出本课题的实测结果，本页不展示任何虚构的药效变化。课题的核心是把上皮端与巨噬细胞端分别处理，再通过CM转移和两端干预逐步定位作用环节。药物名称、浓度与干预时程必须结合真实记录和预实验确定，不能由前期学位论文题目推定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本页参考文献：[1] Intestinal epithelial cells: regulators of barrier function and immune homeostasis. DOI: 10.1038/nri3608.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桥粒黏附结构；DSG2是桥粒钙黏蛋白，参与细胞黏附与骨架联系。。</a:t>
            </a:r>
          </a:p>
          <a:p>
            <a:pPr/>
            <a:endParaRPr lang="zh-CN" dirty="0"/>
          </a:p>
          <a:p>
            <a:pPr/>
            <a:r>
              <a:rPr lang="zh-CN" dirty="0"/>
              <a:t>DSG2（desmoglein 2）胞外区域参与细胞间黏附，胞内区域通过桥粒蛋白联系骨架，共同维持上皮完整性。[2–4]；DSG2同时参与屏障重建与信号调节。炎症可改变其表达、定位和剪切状态。因此需结合连接蛋白及功能检测评价其作用，不能仅以总蛋白量代表屏障功能。[5,6]。</a:t>
            </a:r>
          </a:p>
          <a:p>
            <a:pPr/>
            <a:endParaRPr lang="zh-CN" dirty="0"/>
          </a:p>
          <a:p>
            <a:pPr/>
            <a:r>
              <a:rPr lang="zh-CN" dirty="0"/>
              <a:t>DSG2不是紧密连接蛋白。检测其总量并不能替代细胞边界定位和屏障功能。胞内片段应在细胞裂解液中结合胞内表位抗体判断；胞外脱落应检查上清中的胞外表位相关片段，并与裂解液配对。未验证身份的条带只能称候选DSG2相关条带，不按单一分子量直接命名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本页参考文献：[2] Desmoglein 2-mediated adhesion is required for intestinal epithelial barrier integrity. DOI: 10.1152/ajpgi.00239.2009.；[3] Desmoglein 2 regulates the intestinal epithelial barrier via p38 mitogen-activated protein kinase. DOI: 10.1038/s41598-017-06713-y.；[4] Desmoglein 2, but not desmocollin 2, protects intestinal epithelia from injury. DOI: 10.1038/s41385-018-0062-z.；[5] Yulis M, Quiros M, Hilgarth R, et al. Intracellular Desmoglein-2 cleavage sensitizes epithelial cells to apoptosis in response to pro-inflammatory cytokines. Cell Death &amp; Disease, 2018, 9: 389. DOI: 10.1038/s41419-018-0380-9.；[6] Inflammation-induced desmoglein-2 ectodomain shedding compromises the mucosal barrier. DOI: 10.1091/mbc.E15-03-0147.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细胞膜；SHP-1 / SHP-2；唾液酸糖链识别区；ITIM相关信号；抑制性Siglec受体的一般结构示意，成员功能并不完全相同。。</a:t>
            </a:r>
          </a:p>
          <a:p>
            <a:pPr/>
            <a:endParaRPr lang="zh-CN" dirty="0"/>
          </a:p>
          <a:p>
            <a:pPr/>
            <a:r>
              <a:rPr lang="zh-CN" dirty="0"/>
              <a:t>Siglec为唾液酸结合免疫球蛋白样凝集素，识别糖蛋白或糖脂上的糖链，参与免疫应答调节。[7]；人Siglec-9与鼠Siglec-E具有部分功能相似性，但配体及细胞背景需分别验证。Siglec-E可募集SHP-1/2；本研究优先检验其功能参与，而非以表达量推定激活。[8]。</a:t>
            </a:r>
          </a:p>
          <a:p>
            <a:pPr/>
            <a:endParaRPr lang="zh-CN" dirty="0"/>
          </a:p>
          <a:p>
            <a:pPr/>
            <a:r>
              <a:rPr lang="zh-CN" dirty="0"/>
              <a:t>抑制性Siglec常通过ITIM等胞内结构募集磷酸酶，但不能把这一机制概括为所有Siglec成员。Siglec-E属于小鼠CD33相关Siglec，功能与人Siglec-9存在部分相似性，但配体识别与细胞背景需要独立验证。总受体表达不表示受体被激活，SHP总量或单看p-SHP也不能单独证明Siglec-E激活。首轮以表面表达、敲低和救援为主，SHP募集放到结果支持后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本页参考文献：[7] Siglecs and their roles in the immune system. DOI: 10.1038/nri2056.；[8]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Caco-2上皮供体；CM；培养上清；RAW264.7；刺激 / 药物 / DSG2干预；洗涤换液后标准化收集；Siglec-E与炎症反应。</a:t>
            </a:r>
          </a:p>
          <a:p>
            <a:pPr/>
            <a:endParaRPr lang="zh-CN" dirty="0"/>
          </a:p>
          <a:p>
            <a:pPr/>
            <a:r>
              <a:rPr lang="zh-CN" dirty="0"/>
              <a:t>CM转移用于评价供体细胞对接收细胞的非直接接触作用。其组成包括细胞释放物及培养环境变化，首先反映综合功能。本研究以Caco-2为供体、RAW264.7为接收端，分别操作DSG2与Siglec-E，以定位两端作用；跨物种兼容性与药物、刺激物残留须通过预实验控制。[12,14]。</a:t>
            </a:r>
          </a:p>
          <a:p>
            <a:pPr/>
            <a:endParaRPr lang="zh-CN" dirty="0"/>
          </a:p>
          <a:p>
            <a:pPr/>
            <a:r>
              <a:rPr lang="zh-CN" dirty="0"/>
              <a:t>采用CM使供体药物处理、供体DSG2干预和接收端Siglec-E干预能分别实施。洗涤换液的目的是降低直接药物/刺激物暴露，但不能保证完全去除，仍需残留对照。Caco-2为人源、RAW264.7为鼠源，糖蛋白、细胞因子和检测试剂均存在跨物种适用性问题。需先确认CM无明显非特异性毒性并有稳定可重复的功能效应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本页参考文献：[12] Kristek M, Collins LE, DeCourcey J, et al. Soluble factors from colonic epithelial cells contribute to gut homeostasis by modulating macrophage phenotype. Innate Immunity, 2015. DOI: 10.1177/1753425914538294.；[14] In vitro model to estimate gut inflammation using co-cultured Caco-2 and RAW264.7 cells. Biochemical and Biophysical Research Communications, 2008. DOI: 10.1016/j.bbrc.2008.07.063.；[15] ATCC. Caco-2 [Caco2] HTB-37 cell line information. https://www.atcc.org/products/htb-37. Accessed 2026-10-14.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文献[2] Figure 6：DSG2黏附阻断增加通透性。。</a:t>
            </a:r>
          </a:p>
          <a:p>
            <a:pPr/>
            <a:endParaRPr lang="zh-CN" dirty="0"/>
          </a:p>
          <a:p>
            <a:pPr/>
            <a:r>
              <a:rPr lang="zh-CN" dirty="0"/>
              <a:t>图示DSG2胞外黏附受阻后，Caco-2单层通透性升高。同研究还观察到电阻降低及连接蛋白定位改变。[2]；动物Dsg2缺失研究与屏障重建研究进一步支持其功能。本课题据此检测DSG2及连接状态，并在必要时加入电阻或通透性验证。[3,4]。</a:t>
            </a:r>
          </a:p>
          <a:p>
            <a:pPr/>
            <a:endParaRPr lang="zh-CN" dirty="0"/>
          </a:p>
          <a:p>
            <a:pPr/>
            <a:r>
              <a:rPr lang="zh-CN" dirty="0"/>
              <a:t>可以据此选择DSG2、ZO-1和Occludin，并在需要时加入成熟单层TEER或FITC-dextran通透性。TEER计算应扣除空白并乘膜面积，报告Ω·cm²；不同细胞状态、膜与设备不宜使用统一阈值。Ungewiß提示p38与DSG2存在机制联系，但不同炎症与重建阶段的p38作用具有情境性，不能把p38统一画成保护性上升。本轮文档明确p38不作主线。</a:t>
            </a:r>
          </a:p>
          <a:p>
            <a:pPr/>
            <a:endParaRPr lang="zh-CN" dirty="0"/>
          </a:p>
          <a:p>
            <a:pPr/>
            <a:r>
              <a:rPr lang="zh-CN" dirty="0"/>
              <a:t>本页展示Schlegel 2010 Figure 6原图，数据来自论文，非本课题数据。图中DSG2胞外黏附阻断增加FITC-dextran通量，提示屏障通透性增加。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本页参考文献：[2] Desmoglein 2-mediated adhesion is required for intestinal epithelial barrier integrity. DOI: 10.1152/ajpgi.00239.2009.；[3] Desmoglein 2 regulates the intestinal epithelial barrier via p38 mitogen-activated protein kinase. DOI: 10.1038/s41598-017-06713-y.；[4] Desmoglein 2, but not desmocollin 2, protects intestinal epithelia from injury. DOI: 10.1038/s41385-018-0062-z.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胞内剪切 [5]；胞外结构域脱落 [6]；caspase-8；细胞裂解液：胞内表位相关片段与凋亡敏感性；MMP9 / ADAM10；培养上清：胞外表位相关片段与黏附改变。</a:t>
            </a:r>
          </a:p>
          <a:p>
            <a:pPr/>
            <a:endParaRPr lang="zh-CN" dirty="0"/>
          </a:p>
          <a:p>
            <a:pPr/>
            <a:r>
              <a:rPr lang="zh-CN" dirty="0"/>
              <a:t>Yulis等与Kamekura等分别证明DSG2胞内剪切及胞外脱落与上皮损伤有关，二者对应不同样本区室及抗体表位。[5,6] 本研究优先验证CM功能与DSG2依赖性，再开展裂解液—上清配对检测。现有结果尚不能确定上清DSG2片段是巨噬细胞Siglec-E的直接配体。。</a:t>
            </a:r>
          </a:p>
          <a:p>
            <a:pPr/>
            <a:endParaRPr lang="zh-CN" dirty="0"/>
          </a:p>
          <a:p>
            <a:pPr/>
            <a:r>
              <a:rPr lang="zh-CN" dirty="0"/>
              <a:t>Yulis研究不能替代胞外片段证据，Kamekura研究也不能证明片段作用于巨噬细胞Siglec-E。动物样本中的条带还需排除保存、冻融及蛋白降解。若后续分析CM，应配对检测供体裂解液与上清，并采用匹配表位、物种反应性的抗体。剪切酶活性、完整凋亡通路和片段功能都放在首轮核心CM实验之后；cleaved-caspase-3可作为损伤相关辅助指标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本页参考文献：[5] Yulis M, Quiros M, Hilgarth R, et al. Intracellular Desmoglein-2 cleavage sensitizes epithelial cells to apoptosis in response to pro-inflammatory cytokines. Cell Death &amp; Disease, 2018, 9: 389. DOI: 10.1038/s41419-018-0380-9.；[6] Inflammation-induced desmoglein-2 ectodomain shedding compromises the mucosal barrier. DOI: 10.1091/mbc.E15-03-0147.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Wu等，Figure 4：遗传干预、pull-down与胞外域结合实验。。</a:t>
            </a:r>
          </a:p>
          <a:p>
            <a:pPr/>
            <a:endParaRPr lang="zh-CN" dirty="0"/>
          </a:p>
          <a:p>
            <a:pPr/>
            <a:r>
              <a:rPr lang="zh-CN" dirty="0"/>
              <a:t>B、C：DSG2敲低降低结合，恢复表达后结合回升。D：pull-down支持相互作用。F、G：糖链处理及5Q突变削弱DSG2–Siglec-9结合。[11]；研究证明肿瘤体系中DSG2与人Siglec-9存在直接联系。肠上皮CM、鼠Siglec-E及炎症功能仍需独立验证。。</a:t>
            </a:r>
          </a:p>
          <a:p>
            <a:pPr/>
            <a:endParaRPr lang="zh-CN" dirty="0"/>
          </a:p>
          <a:p>
            <a:pPr/>
            <a:r>
              <a:rPr lang="zh-CN" dirty="0"/>
              <a:t>需要修正早期“没有DSG2与Siglec-9直接结合证据”的说法：上传文献中Wu研究确实提供该证据。然而其模型为肿瘤细胞和人源Siglec-9，功能是巨噬细胞吞噬。它没有证明正常肠上皮、可溶DSG2、鼠Siglec-E以及NF-κB炎症之间的完整关系。Miyazaki识别的正常上皮配体糖链也没有被证明载体就是DSG2。本课题因此首先做功能依赖，不把这些独立线索拼成已完成机制。</a:t>
            </a:r>
          </a:p>
          <a:p>
            <a:pPr/>
            <a:endParaRPr lang="zh-CN" dirty="0"/>
          </a:p>
          <a:p>
            <a:pPr/>
            <a:r>
              <a:rPr lang="zh-CN" dirty="0"/>
              <a:t>本页展示Wu 2025 Figure 4完整原图，重点解读B、C遗传干预与恢复，D相互作用，F、G糖链依赖和胞外域结合。不能据此推定鼠Siglec-E相同结合。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本页参考文献：[11] Proximity Labeling and Genetic Screening Reveal that DSG2 is a Counter Receptor of Siglec-9 and Suppresses Macrophage Phagocytosis. DOI: 10.1002/advs.202406654.；[16] Colonic epithelial cells express specific ligands for mucosal macrophage immunosuppressive receptors Siglec-7 and -9. DOI: 10.4049/jimmunol.1100605.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Matsumoto等，Figure 4：RAW264.7炎症与NF-κB相关结果。。</a:t>
            </a:r>
          </a:p>
          <a:p>
            <a:pPr/>
            <a:endParaRPr lang="zh-CN" dirty="0"/>
          </a:p>
          <a:p>
            <a:pPr/>
            <a:r>
              <a:rPr lang="zh-CN" dirty="0"/>
              <a:t>A、B：可溶性Siglec-9影响炎症因子及iNOS表达。C：磷酸化NF-κB相关信号发生改变。[20]；本研究据此选择p-p65/总p65与TNF-α、IL-6作为读出。外源sSiglec-9不等于内源Siglec-E；结合其条件性阴性证据，仍需通过受体敲低及救援确认参与。[18]。</a:t>
            </a:r>
          </a:p>
          <a:p>
            <a:pPr/>
            <a:endParaRPr lang="zh-CN" dirty="0"/>
          </a:p>
          <a:p>
            <a:pPr/>
            <a:r>
              <a:rPr lang="zh-CN" dirty="0"/>
              <a:t>Siglec-E不能只根据总量上升就被认定为抗炎通路。Boyd和Nagala的刺激条件、细胞背景及实验体系不同，故应在自己的RAW264.7批次中确认表达、干预效率、活性和信号动态范围。Kang及Matsumoto使用外源可溶性Siglec-9，为p65和炎症终点选择提供相邻依据；不能等同于内源Siglec-E。首轮检测p-p65/总p65、鼠源Tnf/Il6转录及分泌，保留实际效应方向，不预设所有输出都下降。</a:t>
            </a:r>
          </a:p>
          <a:p>
            <a:pPr/>
            <a:endParaRPr lang="zh-CN" dirty="0"/>
          </a:p>
          <a:p>
            <a:pPr/>
            <a:r>
              <a:rPr lang="zh-CN" dirty="0"/>
              <a:t>本页展示Matsumoto 2016 Figure 4原图。研究采用外源可溶性Siglec-9与IFN-γ刺激，不能等同于本课题CM或内源Siglec-E干预。具体剂量来自原图，不作为本课题既定实验参数。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本页参考文献：[9] Siglec-E is up-regulated and phosphorylated following lipopolysaccharide stimulation in order to limit TLR-driven cytokine production. DOI: 10.4049/jimmunol.0902780.；[17] Intestinal Neutral Ceramidase Deficiency Triggers Regulatory T Cell Response via Gd3 to Protect the Host from Intestinal Inflammation. DOI: 10.1002/advs.202512681.；[18]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10.3389/fimmu.2017.01926.；[19] Soluble Siglec-9 alleviates intestinal inflammation through inhibition of the NF-κB pathway. DOI: 10.1016/j.intimp.2020.106695.；[20] Soluble Siglec-9 suppresses arthritis in a collagen-induced arthritis mouse model and inhibits M1 activation of RAW264.7 macrophages. DOI: 10.1186/s13075-016-1035-9.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Kristek等 [12]：上皮可溶性因子转移；CMT-93上皮细胞；上皮CM；J774A.1巨噬细胞；Tanoue等 [14]：Caco-2 / RAW264.7共培养；上皮与巨噬细胞配对　→　巨噬细胞炎症输出与上皮屏障变化。</a:t>
            </a:r>
          </a:p>
          <a:p>
            <a:pPr/>
            <a:endParaRPr lang="zh-CN" dirty="0"/>
          </a:p>
          <a:p>
            <a:pPr/>
            <a:r>
              <a:rPr lang="zh-CN" dirty="0"/>
              <a:t>两项研究分别提供上皮CM调节巨噬细胞及Caco-2/RAW264.7配对的依据。[12,14] 前者支持非直接接触作用，后者支持细胞组合；均不能替代本课题的分步CM预实验。正式实验需确认跨物种兼容、靶分子可干预及非毒性的稳定效应，再进入两端分子验证。。</a:t>
            </a:r>
          </a:p>
          <a:p>
            <a:pPr/>
            <a:endParaRPr lang="zh-CN" dirty="0"/>
          </a:p>
          <a:p>
            <a:pPr/>
            <a:r>
              <a:rPr lang="zh-CN" dirty="0"/>
              <a:t>Kristek为“上皮来源可溶性因子能够改变巨噬细胞反应”的直接方法线索；Tanoue支持这两类细胞可建立肠炎相关体外模型，但不是对分步CM方案的逐项验证。因此不照搬其参数。预实验依次解决供体可处理、两端靶分子可检测/可干预、培养基兼容、CM效应稳定且非毒性。无细胞同条件孵育液可评估孵育本身引起的环境变化；供体LDH和活细胞量帮助排除损伤与数量差异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本页参考文献：[12] Kristek M, Collins LE, DeCourcey J, et al. Soluble factors from colonic epithelial cells contribute to gut homeostasis by modulating macrophage phenotype. Innate Immunity, 2015. DOI: 10.1177/1753425914538294.；[14] In vitro model to estimate gut inflammation using co-cultured Caco-2 and RAW264.7 cells. Biochemical and Biophysical Research Communications, 2008. DOI: 10.1016/j.bbrc.2008.07.063.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动物组织WB；表型与蛋白关联；CM功能评价；明确稳定转移效应；供体DSG2干预；敲低与恢复表达；Siglec-E干预；受体参与与救援；细胞身份、支原体、表达/干预效率、活性及CM兼容性预实验贯穿正式比较之前。。</a:t>
            </a:r>
          </a:p>
          <a:p>
            <a:pPr/>
            <a:endParaRPr lang="zh-CN" dirty="0"/>
          </a:p>
          <a:p>
            <a:pPr/>
            <a:r>
              <a:rPr lang="zh-CN" dirty="0"/>
              <a:t>研究按“组织关联—CM功能—供体依赖—接收端参与”逐层推进。动物WB可与细胞准备并行，正式机制验证以稳定CM效应为前提。两端单独验证后，再组合药物、DSG2与Siglec-E状态，评价两端干预对药物效应的影响；片段鉴定及直接结合研究根据结果后续展开。。</a:t>
            </a:r>
          </a:p>
          <a:p>
            <a:pPr/>
            <a:endParaRPr lang="zh-CN" dirty="0"/>
          </a:p>
          <a:p>
            <a:pPr/>
            <a:r>
              <a:rPr lang="zh-CN" dirty="0"/>
              <a:t>动物WB期间可同步准备细胞，但正式机制实验应在CM效应稳定后开展。Caco-2确认DSG2表达与干预效率、炎症处理和药物无明显毒性的作用窗口；RAW264.7先用流式等确认表面Siglec-E，再辅以转录或总蛋白。固定培养代次范围、同批试剂和采样方式。每次出现阴性效应先核查靶分子、活性、残留和检测动态范围，不能自动把它解释为机制被否定或已成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结肠组织；与动物编号 / 表型对应；上皮连接：DSG2、ZO-1、Occludin；必要时结合DSG2片段与上皮定位；炎症相关：Siglec-E、p-p65 / 总p65；必要时结合髓系定位与cleaved-caspase-3。</a:t>
            </a:r>
          </a:p>
          <a:p>
            <a:pPr/>
            <a:endParaRPr lang="zh-CN" dirty="0"/>
          </a:p>
          <a:p>
            <a:pPr/>
            <a:r>
              <a:rPr lang="zh-CN" dirty="0"/>
              <a:t>组织WB用于建立动物表型与上皮连接、炎症信号的关联。以动物个体为生物学重复，均衡安排批次并保持线性曝光，配对分析p-p65与总p65。总组织Siglec-E还受髓系细胞组成影响，因此需结合细胞定位解释；组织表达关联不能替代后续细胞干预证据。。</a:t>
            </a:r>
          </a:p>
          <a:p>
            <a:pPr/>
            <a:endParaRPr lang="zh-CN" dirty="0"/>
          </a:p>
          <a:p>
            <a:pPr/>
            <a:r>
              <a:rPr lang="zh-CN" dirty="0"/>
              <a:t>先核对品系、性别、年龄、DSS浓度和批次、实际药物、给药时序及留存组织状态。各蛋白采用经验证内参或泳道总蛋白归一化，p-p65与总p65配对比较，跨膜设置共同参考样本。组织Siglec-E变化可来自髓系细胞比例变化，因此可用上皮标记与DSG2、髓系标记与Siglec-E定位辅助判断。组织WB不能证明DSG2直接调节Siglec-E，结论需与细胞功能实验分开表述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本页参考文献：[21] Dextran sulfate sodium (DSS)-induced colitis in mice. DOI: 10.1002/0471142735.im1525s104.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供体处理；基础 / 炎症 / 炎症+药物；洗涤换液与收集；统一活细胞量与收集条件；RAW264.7接收；固定CM比例及作用时程；早期：p-p65 / 总p65　　　后期：鼠源Tnf、Il6及TNF-α、IL-6分泌。</a:t>
            </a:r>
          </a:p>
          <a:p>
            <a:pPr/>
            <a:endParaRPr lang="zh-CN" dirty="0"/>
          </a:p>
          <a:p>
            <a:pPr/>
            <a:r>
              <a:rPr lang="zh-CN" dirty="0"/>
              <a:t>处理期与收集期分开，评价换液后供体状态是否保留。通过培养液、残余药物/刺激物匹配对照及两端活性检测，排除带入效应和细胞损伤。检测输入CM与无接收细胞平行样本，采用鼠源特异检测，避免将人源因子带入误认为RAW264.7新产生的炎症输出。。</a:t>
            </a:r>
          </a:p>
          <a:p>
            <a:pPr/>
            <a:endParaRPr lang="zh-CN" dirty="0"/>
          </a:p>
          <a:p>
            <a:pPr/>
            <a:r>
              <a:rPr lang="zh-CN" dirty="0"/>
              <a:t>洗涤后需确认供体药物相关状态仍保留，避免去除药物同时失去预期供体效应。固定CM与RAW培养基混合比例并预先检查pH、营养和血清兼容。转移前检查供体活细胞量与LDH；无血清收集要排查饥饿损伤。设置残余药物、炎症刺激和转染试剂匹配暴露。检测输入CM及无接收细胞平行孵育样本，使用鼠源引物与低人源交叉反应ELISA；必要时CM处理后换液再收集分泌物。若加入LPS挑战，核心比较必须统一挑战条件并保留无挑战对照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本页参考文献：[12] Kristek M, Collins LE, DeCourcey J, et al. Soluble factors from colonic epithelial cells contribute to gut homeostasis by modulating macrophage phenotype. Innate Immunity, 2015. DOI: 10.1177/1753425914538294.；[14] In vitro model to estimate gut inflammation using co-cultured Caco-2 and RAW264.7 cells. Biochemical and Biophysical Research Communications, 2008. DOI: 10.1016/j.bbrc.2008.07.063.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炎症背景Caco-2；非靶向对照；si-DSG2；无药物；加药物；无药物；加药物。</a:t>
            </a:r>
          </a:p>
          <a:p>
            <a:pPr/>
            <a:endParaRPr lang="zh-CN" dirty="0"/>
          </a:p>
          <a:p>
            <a:pPr/>
            <a:r>
              <a:rPr lang="zh-CN" dirty="0"/>
              <a:t>炎症背景四组比较药物效应是否受DSG2敲低影响；基础培养另设对照与敲低，合计六组。CM均作用于受体未干预的RAW264.7，以固定接收端。同步确认供体活性与敲低效率，关键结果采用独立siRNA及耐受DSG2构建体救援；支持后再评价屏障功能或上清成分。。</a:t>
            </a:r>
          </a:p>
          <a:p>
            <a:pPr/>
            <a:endParaRPr lang="zh-CN" dirty="0"/>
          </a:p>
          <a:p>
            <a:pPr/>
            <a:r>
              <a:rPr lang="zh-CN" dirty="0"/>
              <a:t>不能仅比较“炎症+药物”和“炎症+si-DSG2+药物”：敲低可能独立影响细胞活性和CM基线。应比较正常与敲低状态各自有无药物的差异，再检验交互作用。匹配转染过程和溶媒，核实全长DSG2及必要连接蛋白。关键结果采用第二条独立siRNA，并用耐受所用序列的DSG2救援，表达水平尽量接近内源，配空载体。屏障功能若纳入，应使用成熟单层并设置荧光干扰对照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同批供体CM配对分配；正常Siglec-E；Siglece敲低；炎症CM；药物供体CM；炎症CM；药物供体CM。</a:t>
            </a:r>
          </a:p>
          <a:p>
            <a:pPr/>
            <a:endParaRPr lang="zh-CN" dirty="0"/>
          </a:p>
          <a:p>
            <a:pPr/>
            <a:r>
              <a:rPr lang="zh-CN" dirty="0"/>
              <a:t>四组设计检验CM类型与Siglece干预的交互作用，即比较正常及敲低状态下药物CM效应的差别，而非仅比较两组终点。结合表面受体、活性、独立序列与受体救援验证。两端单独支持后再做药物×DSG2×Siglec-E八条件整合，以独立CM制备批次为生物学重复，报告效应量与置信区间。。</a:t>
            </a:r>
          </a:p>
          <a:p>
            <a:pPr/>
            <a:endParaRPr lang="zh-CN" dirty="0"/>
          </a:p>
          <a:p>
            <a:pPr/>
            <a:r>
              <a:rPr lang="zh-CN" dirty="0"/>
              <a:t>B与D单独比较无法区分受体敲低本身的效应与药物CM效应差异。若正常受体下药物CM降低炎症，而敲低后降低幅度减小，且救援恢复，支持Siglec-E参与；具体方向以结果为准。使用析因或混合效应模型报告交互作用、效应量、置信区间和多重比较处理，不能以一组显著另一组不显著判定依赖。生物学重复为独立培养、处理及CM制备批次，样本量由主要终点和预实验变异估算。两端单独验证后再实施炎症背景药物有无×供体DSG2状态×接收Siglec-E状态共八条件，救援聚焦决定性比较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Caco-2肠上皮；RAW264.7巨噬细胞；药物处理；DSG2相关状态；供体敲低 / 救援；上皮来源CM；活性成分未定；Siglec-E；受体参与待验证；NF-κB相关反应；p-p65 / 总p65；炎症输出；TNF-α / IL-6；机制假说示意：虚线均为拟检验作用；功能依赖不等于DSG2片段与鼠Siglec-E直接结合。。</a:t>
            </a:r>
          </a:p>
          <a:p>
            <a:pPr/>
            <a:endParaRPr lang="zh-CN" dirty="0"/>
          </a:p>
          <a:p>
            <a:pPr/>
            <a:r>
              <a:rPr lang="zh-CN" dirty="0"/>
              <a:t>这里的闭环是证据链闭合，不是已证明的生物反馈环。最稳妥的阶段性结论是供体DSG2相关改变经CM影响巨噬细胞，并在本模型中有Siglec-E参与。即便两端均有依赖性，也不能单独证明DSG2片段是直接配体。后续应先鉴定裂解液与上清片段，使用特异性去除、假去除及补加检验其活性贡献，控制糖基化、内毒素与共去除。若转向直接结合，必须另做人源DSG2与鼠Siglec-E的结合和糖链依赖性验证。本轮创新在于分步定位两端作用；局限包括跨物种、肿瘤来源细胞及CM复杂性。</a:t>
            </a:r>
          </a:p>
          <a:p>
            <a:pPr/>
            <a:endParaRPr lang="zh-CN" dirty="0"/>
          </a:p>
          <a:p>
            <a:pPr/>
            <a:r>
              <a:rPr lang="zh-CN" dirty="0"/>
              <a:t>细胞插画为概念绘制，DSG2相关供体状态、CM组成、Siglec-E功能与NF-κB反应之间均属于待检验作用。图中未表示直接DSG2–鼠Siglec-E结合，也未预设炎症下降。</a:t>
            </a:r>
          </a:p>
          <a:p>
            <a:pPr/>
            <a:endParaRPr lang="zh-CN" dirty="0"/>
          </a:p>
          <a:p>
            <a:pPr/>
            <a:r>
              <a:rPr lang="zh-CN" dirty="0"/>
              <a:t>本页参考文献：[11] Proximity Labeling and Genetic Screening Reveal that DSG2 is a Counter Receptor of Siglec-9 and Suppresses Macrophage Phagocytosis. DOI: 10.1002/advs.202406654.；[17]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zh-CN" dirty="0"/>
          </a:p>
          <a:p>
            <a:pPr/>
            <a:r>
              <a:rPr lang="zh-CN" dirty="0"/>
              <a:t>完整参考文献如下。</a:t>
            </a:r>
          </a:p>
          <a:p>
            <a:pPr/>
            <a:endParaRPr lang="zh-CN" dirty="0"/>
          </a:p>
          <a:p>
            <a:pPr/>
            <a:r>
              <a:rPr lang="en-US" dirty="0"/>
              <a:t>[1] Intestinal epithelial cells: regulators of barrier function and immune homeostasis. DOI: 10.1038/nri3608.</a:t>
            </a:r>
          </a:p>
          <a:p>
            <a:pPr/>
            <a:endParaRPr lang="zh-CN" dirty="0"/>
          </a:p>
          <a:p>
            <a:pPr/>
            <a:r>
              <a:rPr lang="en-US" dirty="0"/>
              <a:t>[2] Desmoglein 2-mediated adhesion is required for intestinal epithelial barrier integrity. DOI: 10.1152/ajpgi.00239.2009.</a:t>
            </a:r>
          </a:p>
          <a:p>
            <a:pPr/>
            <a:endParaRPr lang="zh-CN" dirty="0"/>
          </a:p>
          <a:p>
            <a:pPr/>
            <a:r>
              <a:rPr lang="en-US" dirty="0"/>
              <a:t>[3] Desmoglein 2 regulates the intestinal epithelial barrier via p38 mitogen-activated protein kinase. DOI: 10.1038/s41598-017-06713-y.</a:t>
            </a:r>
          </a:p>
          <a:p>
            <a:pPr/>
            <a:endParaRPr lang="zh-CN" dirty="0"/>
          </a:p>
          <a:p>
            <a:pPr/>
            <a:r>
              <a:rPr lang="en-US" dirty="0"/>
              <a:t>[4] Desmoglein 2, but not desmocollin 2, protects intestinal epithelia from injury. DOI: 10.1038/s41385-018-0062-z.</a:t>
            </a:r>
          </a:p>
          <a:p>
            <a:pPr/>
            <a:endParaRPr lang="zh-CN" dirty="0"/>
          </a:p>
          <a:p>
            <a:pPr/>
            <a:r>
              <a:rPr lang="en-US" dirty="0"/>
              <a:t>[5] Yulis M, Quiros M, Hilgarth R, et al. Intracellular Desmoglein-2 cleavage sensitizes epithelial cells to apoptosis in response to pro-inflammatory cytokines. Cell Death &amp; Disease, 2018, 9: 389. DOI: 10.1038/s41419-018-0380-9.</a:t>
            </a:r>
          </a:p>
          <a:p>
            <a:pPr/>
            <a:endParaRPr lang="zh-CN" dirty="0"/>
          </a:p>
          <a:p>
            <a:pPr/>
            <a:r>
              <a:rPr lang="en-US" dirty="0"/>
              <a:t>[6] Inflammation-induced desmoglein-2 ectodomain shedding compromises the mucosal barrier. DOI: 10.1091/mbc.E15-03-0147.</a:t>
            </a:r>
          </a:p>
          <a:p>
            <a:pPr/>
            <a:endParaRPr lang="zh-CN" dirty="0"/>
          </a:p>
          <a:p>
            <a:pPr/>
            <a:r>
              <a:rPr lang="en-US" dirty="0"/>
              <a:t>[7] Siglecs and their roles in the immune system. DOI: 10.1038/nri2056.</a:t>
            </a:r>
          </a:p>
          <a:p>
            <a:pPr/>
            <a:endParaRPr lang="zh-CN" dirty="0"/>
          </a:p>
          <a:p>
            <a:pPr/>
            <a:r>
              <a:rPr lang="en-US" dirty="0"/>
              <a:t>[8] mSiglec-E, a novel mouse CD33-related siglec (sialic acid-binding immunoglobulin-like lectin) that recruits Src homology 2 (SH2)-domain-containing protein tyrosine phosphatases SHP-1 and SHP-2. Biochemical Journal, 2001, 353(Pt 3): 483–492. DOI: 10.1042/0264-6021:3530483.</a:t>
            </a:r>
          </a:p>
          <a:p>
            <a:pPr/>
            <a:endParaRPr lang="zh-CN" dirty="0"/>
          </a:p>
          <a:p>
            <a:pPr/>
            <a:r>
              <a:rPr lang="en-US" dirty="0"/>
              <a:t>[9] Siglec-E is up-regulated and phosphorylated following lipopolysaccharide stimulation in order to limit TLR-driven cytokine production. DOI: 10.4049/jimmunol.0902780.</a:t>
            </a:r>
          </a:p>
          <a:p>
            <a:pPr/>
            <a:endParaRPr lang="zh-CN" dirty="0"/>
          </a:p>
          <a:p>
            <a:pPr/>
            <a:r>
              <a:rPr lang="en-US" dirty="0"/>
              <a:t>[10] Selective Response to Bacterial Infection by Regulating Siglec-E Expression. DOI: 10.1016/j.isci.2020.101473.</a:t>
            </a:r>
          </a:p>
          <a:p>
            <a:pPr/>
            <a:endParaRPr lang="zh-CN" dirty="0"/>
          </a:p>
          <a:p>
            <a:pPr/>
            <a:r>
              <a:rPr lang="en-US" dirty="0"/>
              <a:t>[11] Proximity Labeling and Genetic Screening Reveal that DSG2 is a Counter Receptor of Siglec-9 and Suppresses Macrophage Phagocytosis. DOI: 10.1002/advs.202406654.</a:t>
            </a:r>
          </a:p>
          <a:p>
            <a:pPr/>
            <a:endParaRPr lang="zh-CN" dirty="0"/>
          </a:p>
          <a:p>
            <a:pPr/>
            <a:r>
              <a:rPr lang="en-US" dirty="0"/>
              <a:t>[12] Kristek M, Collins LE, DeCourcey J, et al. Soluble factors from colonic epithelial cells contribute to gut homeostasis by modulating macrophage phenotype. Innate Immunity, 2015. DOI: 10.1177/1753425914538294.</a:t>
            </a:r>
          </a:p>
          <a:p>
            <a:pPr/>
            <a:endParaRPr lang="zh-CN" dirty="0"/>
          </a:p>
          <a:p>
            <a:pPr/>
            <a:r>
              <a:rPr lang="zh-CN" dirty="0"/>
              <a:t>[13]为用户文件列出的前期学位论文，当前未提供其全文，未用作独立核验的实测结果。</a:t>
            </a:r>
          </a:p>
          <a:p>
            <a:pPr/>
            <a:endParaRPr lang="zh-CN" dirty="0"/>
          </a:p>
          <a:p>
            <a:pPr/>
            <a:r>
              <a:rPr lang="en-US" dirty="0"/>
              <a:t>[14] In vitro model to estimate gut inflammation using co-cultured Caco-2 and RAW264.7 cells. Biochemical and Biophysical Research Communications, 2008. DOI: 10.1016/j.bbrc.2008.07.063.</a:t>
            </a:r>
          </a:p>
          <a:p>
            <a:pPr/>
            <a:endParaRPr lang="zh-CN" dirty="0"/>
          </a:p>
          <a:p>
            <a:pPr/>
            <a:r>
              <a:rPr lang="en-US" dirty="0"/>
              <a:t>[15] ATCC. Caco-2 [Caco2] HTB-37 cell line information. https://www.atcc.org/products/htb-37. Accessed 2026-10-14.</a:t>
            </a:r>
          </a:p>
          <a:p>
            <a:pPr/>
            <a:endParaRPr lang="zh-CN" dirty="0"/>
          </a:p>
          <a:p>
            <a:pPr/>
            <a:r>
              <a:rPr lang="en-US" dirty="0"/>
              <a:t>[16] Colonic epithelial cells express specific ligands for mucosal macrophage immunosuppressive receptors Siglec-7 and -9. DOI: 10.4049/jimmunol.1100605.</a:t>
            </a:r>
          </a:p>
          <a:p>
            <a:pPr/>
            <a:endParaRPr lang="zh-CN" dirty="0"/>
          </a:p>
          <a:p>
            <a:pPr/>
            <a:r>
              <a:rPr lang="en-US" dirty="0"/>
              <a:t>[17] Intestinal Neutral Ceramidase Deficiency Triggers Regulatory T Cell Response via Gd3 to Protect the Host from Intestinal Inflammation. DOI: 10.1002/advs.202512681.</a:t>
            </a:r>
          </a:p>
          <a:p>
            <a:pPr/>
            <a:endParaRPr lang="zh-CN" dirty="0"/>
          </a:p>
          <a:p>
            <a:pPr/>
            <a:r>
              <a:rPr lang="en-US" dirty="0"/>
              <a:t>[18] Nagala M, McKenzie E, Richards H, et al. Expression of Siglec-E Alters the Proteome of Lipopolysaccharide (LPS)-Activated Macrophages but Does Not Affect LPS-Driven Cytokine Production or Toll-Like Receptor 4 Endocytosis. Frontiers in Immunology, 2018, 8: 1926. DOI: 10.3389/fimmu.2017.01926.</a:t>
            </a:r>
          </a:p>
          <a:p>
            <a:pPr/>
            <a:endParaRPr lang="zh-CN" dirty="0"/>
          </a:p>
          <a:p>
            <a:pPr/>
            <a:r>
              <a:rPr lang="el-GR" dirty="0"/>
              <a:t>[19] Soluble Siglec-9 alleviates intestinal inflammation through inhibition of the NF-κB pathway. DOI: 10.1016/j.intimp.2020.106695.</a:t>
            </a:r>
          </a:p>
          <a:p>
            <a:pPr/>
            <a:endParaRPr lang="zh-CN" dirty="0"/>
          </a:p>
          <a:p>
            <a:pPr/>
            <a:r>
              <a:rPr lang="en-US" dirty="0"/>
              <a:t>[20] Soluble Siglec-9 suppresses arthritis in a collagen-induced arthritis mouse model and inhibits M1 activation of RAW264.7 macrophages. DOI: 10.1186/s13075-016-1035-9.</a:t>
            </a:r>
          </a:p>
          <a:p>
            <a:pPr/>
            <a:endParaRPr lang="zh-CN" dirty="0"/>
          </a:p>
          <a:p>
            <a:pPr/>
            <a:r>
              <a:rPr lang="en-US" dirty="0"/>
              <a:t>[21] Dextran sulfate sodium (DSS)-induced colitis in mice. DOI: 10.1002/0471142735.im1525s104.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SG2_Siglec_fin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SG2_Siglec_fin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8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d07fa07d74784e4.pn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d07fa07d74784e4.pn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fc59b1a8b45def8d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f52b13776586cdf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6e58f91e7f8921e.pn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8306786e02c3a18.png"/>
  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57043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肠上皮屏障损伤与黏膜炎症互作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72794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[1] Intestinal epithelial cells: regulators of barrier function and immune homeostasis.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6105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本课题基础与后续安排依据《20261014-最终.docx》；本报告不预设实验结果。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15</a:t>
              </a:r>
            </a:p>
          </p:txBody>
        </p:sp>
      </p:grpSp>
      <p:grpSp>
        <p:nvGrpSpPr>
          <p:cNvPr id="13" name="barrier-figure"/>
          <p:cNvGrpSpPr/>
          <p:nvPr/>
        </p:nvGrpSpPr>
        <p:grpSpPr>
          <a:xfrm>
            <a:off x="742950" y="1390650"/>
            <a:ext cx="6286500" cy="4493895"/>
            <a:chOff x="742950" y="1390650"/>
            <a:chExt cx="6286500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1390650"/>
              <a:ext cx="6286500" cy="41910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51358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肠上皮连接与固有层髓系细胞的空间关系（概念示意）</a:t>
              </a:r>
            </a:p>
          </p:txBody>
        </p:sp>
      </p:grpSp>
      <p:grpSp>
        <p:nvGrpSpPr>
          <p:cNvPr id="16" name="barrier-interpretation"/>
          <p:cNvGrpSpPr/>
          <p:nvPr/>
        </p:nvGrpSpPr>
        <p:grpSpPr>
          <a:xfrm>
            <a:off x="7610856" y="1384300"/>
            <a:ext cx="3218688" cy="3876294"/>
            <a:chOff x="7610856" y="1384300"/>
            <a:chExt cx="3218688" cy="3876294"/>
          </a:xfrm>
        </p:grpSpPr>
        <p:sp>
          <p:nvSpPr>
            <p:cNvPr id="14" name="TextBox 14"/>
            <p:cNvSpPr txBox="1"/>
            <p:nvPr/>
          </p:nvSpPr>
          <p:spPr>
            <a:xfrm>
              <a:off x="7610856" y="1384300"/>
              <a:ext cx="2990088" cy="1723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肠上皮通过桥粒、紧密连接与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黏附连接维持屏障完整性。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屏障受损可增加黏膜对肠腔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抗原及炎症刺激的暴露，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促进免疫活化。[1]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10856" y="3536950"/>
              <a:ext cx="3218688" cy="1723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炎症反应又可进一步损伤上皮，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形成屏障障碍与免疫失衡的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相互促进。本研究据此关注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上皮状态改变及其对巨噬</a:t>
              </a:r>
              <a:b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细胞炎症反应的影响</a:t>
              </a: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DSG2的结构定位与屏障调节作用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7535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[2] Desmoglein 2-mediated adhesion is required for intestinal epithelial barrier integrity.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8483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[3] Desmoglein 2 regulates the intestinal epithelial barrier via p38 mitogen-activated protein kinase.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4629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[4–6] 文献全称见本页备注；相关实验在第二部分继续展开。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15</a:t>
              </a:r>
            </a:p>
          </p:txBody>
        </p:sp>
      </p:grpSp>
      <p:grpSp>
        <p:nvGrpSpPr>
          <p:cNvPr id="16" name="dsg2-figure"/>
          <p:cNvGrpSpPr/>
          <p:nvPr/>
        </p:nvGrpSpPr>
        <p:grpSpPr>
          <a:xfrm>
            <a:off x="742950" y="1377950"/>
            <a:ext cx="6286500" cy="4506595"/>
            <a:chOff x="742950" y="1377950"/>
            <a:chExt cx="6286500" cy="4506595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2950" y="1390650"/>
              <a:ext cx="6286500" cy="41910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4696206" y="1377950"/>
              <a:ext cx="15544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桥粒黏附结构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581650" y="1733550"/>
              <a:ext cx="609600" cy="742950"/>
            </a:xfrm>
            <a:custGeom>
              <a:avLst/>
              <a:gdLst/>
              <a:ahLst/>
              <a:cxnLst/>
              <a:rect l="l" t="t" r="r" b="b"/>
              <a:pathLst>
                <a:path w="609600" h="742950">
                  <a:moveTo>
                    <a:pt x="0" y="0"/>
                  </a:moveTo>
                  <a:lnTo>
                    <a:pt x="609600" y="7429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4380" y="5591175"/>
              <a:ext cx="48524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DSG2是桥粒钙黏蛋白，参与细胞黏附与骨架联系。</a:t>
              </a:r>
            </a:p>
          </p:txBody>
        </p:sp>
      </p:grpSp>
      <p:grpSp>
        <p:nvGrpSpPr>
          <p:cNvPr id="19" name="dsg2-interpretation"/>
          <p:cNvGrpSpPr/>
          <p:nvPr/>
        </p:nvGrpSpPr>
        <p:grpSpPr>
          <a:xfrm>
            <a:off x="7610856" y="1384300"/>
            <a:ext cx="3161538" cy="3876294"/>
            <a:chOff x="7610856" y="1384300"/>
            <a:chExt cx="3161538" cy="3876294"/>
          </a:xfrm>
        </p:grpSpPr>
        <p:sp>
          <p:nvSpPr>
            <p:cNvPr id="17" name="TextBox 17"/>
            <p:cNvSpPr txBox="1"/>
            <p:nvPr/>
          </p:nvSpPr>
          <p:spPr>
            <a:xfrm>
              <a:off x="7610856" y="1384300"/>
              <a:ext cx="2990088" cy="1380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DSG2（desmoglein 2）胞外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区域参与细胞间黏附，胞内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区域通过桥粒蛋白联系骨架，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共同维持上皮完整性。[2–4]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10856" y="3194050"/>
              <a:ext cx="3161538" cy="20665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DSG2同时参与屏障重建与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信号调节。炎症可改变其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表达、定位和剪切状态。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因此需结合连接蛋白及功能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检测评价其作用，不能仅以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总蛋白量代表屏障功能。[5,6]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127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Siglec家族的糖链识别与免疫调节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41410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[7] Siglecs and their roles in the immune system.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03950"/>
              <a:ext cx="8180832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[8] mSiglec-E, a novel mouse CD33-related siglec (sialic acid-binding immunoglobulin-like lectin) that recruits</a:t>
              </a:r>
              <a:b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Src homology 2 (SH2)-domain-containing protein tyrosine phosphatases SHP-1 and SHP-2.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15</a:t>
              </a:r>
            </a:p>
          </p:txBody>
        </p:sp>
      </p:grpSp>
      <p:grpSp>
        <p:nvGrpSpPr>
          <p:cNvPr id="24" name="siglec-structure"/>
          <p:cNvGrpSpPr/>
          <p:nvPr/>
        </p:nvGrpSpPr>
        <p:grpSpPr>
          <a:xfrm>
            <a:off x="457200" y="1390650"/>
            <a:ext cx="6858000" cy="4362450"/>
            <a:chOff x="457200" y="1390650"/>
            <a:chExt cx="6858000" cy="43624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6858000" cy="43624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914400" y="32385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11430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914650"/>
              <a:ext cx="655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细胞膜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305175" y="1695450"/>
              <a:ext cx="819150" cy="99060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3390900" y="2543175"/>
              <a:ext cx="647700" cy="66675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714750" y="3143250"/>
              <a:ext cx="9525" cy="952500"/>
            </a:xfrm>
            <a:custGeom>
              <a:avLst/>
              <a:gdLst/>
              <a:ahLst/>
              <a:cxnLst/>
              <a:rect l="l" t="t" r="r" b="b"/>
              <a:pathLst>
                <a:path w="9525" h="952500">
                  <a:moveTo>
                    <a:pt x="0" y="0"/>
                  </a:moveTo>
                  <a:lnTo>
                    <a:pt x="0" y="952500"/>
                  </a:ln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600450" y="3714750"/>
              <a:ext cx="228600" cy="228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14850" y="3905250"/>
              <a:ext cx="18669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3867150" y="3886200"/>
              <a:ext cx="552450" cy="266700"/>
            </a:xfrm>
            <a:custGeom>
              <a:avLst/>
              <a:gdLst/>
              <a:ahLst/>
              <a:cxnLst/>
              <a:rect l="l" t="t" r="r" b="b"/>
              <a:pathLst>
                <a:path w="552450" h="266700">
                  <a:moveTo>
                    <a:pt x="0" y="0"/>
                  </a:moveTo>
                  <a:lnTo>
                    <a:pt x="552450" y="2667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681" y="4070350"/>
              <a:ext cx="20857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SHP-1 / SHP-2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58056" y="1987550"/>
              <a:ext cx="20665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唾液酸糖链识别区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91156" y="4086225"/>
              <a:ext cx="1633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ITIM相关信号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4880" y="5124450"/>
              <a:ext cx="57546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抑制性Siglec受体的一般结构示意，成员功能并不完全相同。</a:t>
              </a:r>
            </a:p>
          </p:txBody>
        </p:sp>
      </p:grpSp>
      <p:grpSp>
        <p:nvGrpSpPr>
          <p:cNvPr id="27" name="siglec-interpretation"/>
          <p:cNvGrpSpPr/>
          <p:nvPr/>
        </p:nvGrpSpPr>
        <p:grpSpPr>
          <a:xfrm>
            <a:off x="7610856" y="1384300"/>
            <a:ext cx="2990088" cy="3876294"/>
            <a:chOff x="7610856" y="1384300"/>
            <a:chExt cx="2990088" cy="3876294"/>
          </a:xfrm>
        </p:grpSpPr>
        <p:sp>
          <p:nvSpPr>
            <p:cNvPr id="25" name="TextBox 25"/>
            <p:cNvSpPr txBox="1"/>
            <p:nvPr/>
          </p:nvSpPr>
          <p:spPr>
            <a:xfrm>
              <a:off x="7610856" y="1384300"/>
              <a:ext cx="2761488" cy="1380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Siglec为唾液酸结合免疫球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蛋白样凝集素，识别糖蛋白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或糖脂上的糖链，参与免疫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应答调节。[7]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10856" y="3194050"/>
              <a:ext cx="2990088" cy="20665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人Siglec-9与鼠Siglec-E具有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部分功能相似性，但配体及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细胞背景需分别验证。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Siglec-E可募集SHP-1/2；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本研究优先检验其功能参与，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而非以表达量推定激活。[8]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一、研究背景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5599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条件培养基介导的上皮—巨噬细胞作用模型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 / 15</a:t>
              </a:r>
            </a:p>
          </p:txBody>
        </p:sp>
      </p:grpSp>
      <p:grpSp>
        <p:nvGrpSpPr>
          <p:cNvPr id="28" name="cm-model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52500" y="2352675"/>
              <a:ext cx="2133600" cy="857250"/>
            </a:xfrm>
            <a:prstGeom prst="ellipse">
              <a:avLst/>
            </a:prstGeom>
            <a:solidFill>
              <a:srgbClr val="E4EFE7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390650" y="2581275"/>
              <a:ext cx="361950" cy="3619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838325" y="2476500"/>
              <a:ext cx="361950" cy="3619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257425" y="2695575"/>
              <a:ext cx="361950" cy="3619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89482" y="1724025"/>
              <a:ext cx="225468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Caco-2上皮供体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3371850" y="2743200"/>
              <a:ext cx="148590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181600" y="2209800"/>
              <a:ext cx="1752600" cy="1104900"/>
            </a:xfrm>
            <a:prstGeom prst="roundRect">
              <a:avLst>
                <a:gd name="adj" fmla="val 6897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570982" y="2413000"/>
              <a:ext cx="4928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83530" y="2876550"/>
              <a:ext cx="868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7219950" y="2743200"/>
              <a:ext cx="1390650" cy="1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Ellipse 22"/>
            <p:cNvSpPr/>
            <p:nvPr/>
          </p:nvSpPr>
          <p:spPr>
            <a:xfrm>
              <a:off x="9048750" y="2152650"/>
              <a:ext cx="2095500" cy="1257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9734550" y="2533650"/>
              <a:ext cx="723900" cy="495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1432" y="1736725"/>
              <a:ext cx="16898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4430" y="3581400"/>
              <a:ext cx="2408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刺激 / 药物 / DSG2干预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54930" y="3581400"/>
              <a:ext cx="2148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洗涤换液后标准化收集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98280" y="3581400"/>
              <a:ext cx="19650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Siglec-E与炎症反应</a:t>
              </a:r>
            </a:p>
          </p:txBody>
        </p:sp>
      </p:grpSp>
      <p:grpSp>
        <p:nvGrpSpPr>
          <p:cNvPr id="30" name="cm-interpretation"/>
          <p:cNvGrpSpPr/>
          <p:nvPr/>
        </p:nvGrpSpPr>
        <p:grpSpPr>
          <a:xfrm>
            <a:off x="448056" y="4441825"/>
            <a:ext cx="9333738" cy="1037844"/>
            <a:chOff x="448056" y="4441825"/>
            <a:chExt cx="9333738" cy="1037844"/>
          </a:xfrm>
        </p:grpSpPr>
        <p:sp>
          <p:nvSpPr>
            <p:cNvPr id="29" name="TextBox 29"/>
            <p:cNvSpPr txBox="1"/>
            <p:nvPr/>
          </p:nvSpPr>
          <p:spPr>
            <a:xfrm>
              <a:off x="448056" y="4441825"/>
              <a:ext cx="933373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CM转移用于评价供体细胞对接收细胞的非直接接触作用。其组成包括细胞释放物及培养环境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变化，首先反映综合功能。本研究以Caco-2为供体、RAW264.7为接收端，分别操作DSG2与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Siglec-E，以定位两端作用；跨物种兼容性与药物、刺激物残留须通过预实验控制。[12,14]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0306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DSG2黏附受损增加肠上皮通透性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1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7535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[2] Desmoglein 2-mediated adhesion is required for intestinal epithelial barrier integrity.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191250"/>
              <a:ext cx="8483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[3] Desmoglein 2 regulates the intestinal epithelial barrier via p38 mitogen-activated protein kinase.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1104" y="6381750"/>
              <a:ext cx="69053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[4] Desmoglein 2, but not desmocollin 2, protects intestinal epithelia from injury.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 / 15</a:t>
              </a:r>
            </a:p>
          </p:txBody>
        </p:sp>
      </p:grpSp>
      <p:grpSp>
        <p:nvGrpSpPr>
          <p:cNvPr id="14" name="permeability-evidence"/>
          <p:cNvGrpSpPr/>
          <p:nvPr/>
        </p:nvGrpSpPr>
        <p:grpSpPr>
          <a:xfrm>
            <a:off x="754380" y="1390650"/>
            <a:ext cx="5454002" cy="4493895"/>
            <a:chOff x="754380" y="1390650"/>
            <a:chExt cx="5454002" cy="4493895"/>
          </a:xfrm>
        </p:grpSpPr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87819" y="1390650"/>
              <a:ext cx="4720563" cy="415290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54380" y="5591175"/>
              <a:ext cx="46516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文献[2] Figure 6：DSG2黏附阻断增加通透性。</a:t>
              </a:r>
            </a:p>
          </p:txBody>
        </p:sp>
      </p:grpSp>
      <p:grpSp>
        <p:nvGrpSpPr>
          <p:cNvPr id="17" name="permeability-interpretation"/>
          <p:cNvGrpSpPr/>
          <p:nvPr/>
        </p:nvGrpSpPr>
        <p:grpSpPr>
          <a:xfrm>
            <a:off x="7610856" y="1384300"/>
            <a:ext cx="2990088" cy="3533394"/>
            <a:chOff x="7610856" y="1384300"/>
            <a:chExt cx="2990088" cy="3533394"/>
          </a:xfrm>
        </p:grpSpPr>
        <p:sp>
          <p:nvSpPr>
            <p:cNvPr id="15" name="TextBox 15"/>
            <p:cNvSpPr txBox="1"/>
            <p:nvPr/>
          </p:nvSpPr>
          <p:spPr>
            <a:xfrm>
              <a:off x="7610856" y="1384300"/>
              <a:ext cx="2807208" cy="1380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图示DSG2胞外黏附受阻后，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Caco-2单层通透性升高。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同研究还观察到电阻降低及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连接蛋白定位改变。[2]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10856" y="3194050"/>
              <a:ext cx="2990088" cy="1723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动物Dsg2缺失研究与屏障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重建研究进一步支持其功能。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本课题据此检测DSG2及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连接状态，并在必要时加入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电阻或通透性验证。[3,4]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84143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DSG2胞内剪切与胞外脱落的研究依据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10296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[5] Intracellular Desmoglein-2 cleavage sensitizes epithelial cells to apoptosis in response to pro-inflammatory cytokines.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79119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[6] Inflammation-induced desmoglein-2 ectodomain shedding compromises the mucosal barrier.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 / 15</a:t>
              </a:r>
            </a:p>
          </p:txBody>
        </p:sp>
      </p:grpSp>
      <p:grpSp>
        <p:nvGrpSpPr>
          <p:cNvPr id="26" name="cleavage-comparis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53911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153150" y="1390650"/>
              <a:ext cx="558165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6582" y="1524000"/>
              <a:ext cx="17986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胞内剪切 [5]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42532" y="1524000"/>
              <a:ext cx="269473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胞外结构域脱落 [6]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283845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19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2838450" y="26860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92430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288030" y="2165350"/>
              <a:ext cx="1071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caspase-8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9630" y="3609975"/>
              <a:ext cx="428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细胞裂解液：胞内表位相关片段与凋亡敏感性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610600" y="2076450"/>
              <a:ext cx="9525" cy="1409700"/>
            </a:xfrm>
            <a:custGeom>
              <a:avLst/>
              <a:gdLst/>
              <a:ahLst/>
              <a:cxnLst/>
              <a:rect l="l" t="t" r="r" b="b"/>
              <a:pathLst>
                <a:path w="9525" h="1409700">
                  <a:moveTo>
                    <a:pt x="0" y="0"/>
                  </a:moveTo>
                  <a:lnTo>
                    <a:pt x="0" y="1409700"/>
                  </a:lnTo>
                </a:path>
              </a:pathLst>
            </a:custGeom>
            <a:noFill/>
            <a:ln w="133350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19950" y="2571750"/>
              <a:ext cx="800100" cy="228600"/>
            </a:xfrm>
            <a:prstGeom prst="roundRect">
              <a:avLst>
                <a:gd name="adj" fmla="val 33333"/>
              </a:avLst>
            </a:prstGeom>
            <a:solidFill>
              <a:srgbClr val="E4EFE7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Line 23"/>
            <p:cNvSpPr/>
            <p:nvPr/>
          </p:nvSpPr>
          <p:spPr>
            <a:xfrm>
              <a:off x="8610600" y="2686050"/>
              <a:ext cx="914400" cy="9525"/>
            </a:xfrm>
            <a:custGeom>
              <a:avLst/>
              <a:gdLst/>
              <a:ahLst/>
              <a:cxnLst/>
              <a:rect l="l" t="t" r="r" b="b"/>
              <a:pathLst>
                <a:path w="914400" h="9525">
                  <a:moveTo>
                    <a:pt x="0" y="0"/>
                  </a:moveTo>
                  <a:lnTo>
                    <a:pt x="914400" y="0"/>
                  </a:ln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50380" y="2165350"/>
              <a:ext cx="18935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MMP9 / ADAM10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5580" y="3609975"/>
              <a:ext cx="3855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培养上清：胞外表位相关片段与黏附改变</a:t>
              </a:r>
            </a:p>
          </p:txBody>
        </p:sp>
      </p:grpSp>
      <p:grpSp>
        <p:nvGrpSpPr>
          <p:cNvPr id="28" name="cleavage-interpretation"/>
          <p:cNvGrpSpPr/>
          <p:nvPr/>
        </p:nvGrpSpPr>
        <p:grpSpPr>
          <a:xfrm>
            <a:off x="448056" y="4441825"/>
            <a:ext cx="9642348" cy="1037844"/>
            <a:chOff x="448056" y="4441825"/>
            <a:chExt cx="9642348" cy="1037844"/>
          </a:xfrm>
        </p:grpSpPr>
        <p:sp>
          <p:nvSpPr>
            <p:cNvPr id="27" name="TextBox 27"/>
            <p:cNvSpPr txBox="1"/>
            <p:nvPr/>
          </p:nvSpPr>
          <p:spPr>
            <a:xfrm>
              <a:off x="448056" y="4441825"/>
              <a:ext cx="964234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Yulis等与Kamekura等分别证明DSG2胞内剪切及胞外脱落与上皮损伤有关，二者对应不同样本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区室及抗体表位。[5,6] 本研究优先验证CM功能与DSG2依赖性，再开展裂解液—上清配对检测。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现有结果尚不能确定上清DSG2片段是巨噬细胞Siglec-E的直接配体。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22350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DSG2–人Siglec-9相互作用的直接证据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13450"/>
              <a:ext cx="8356092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[11] Proximity Labeling and Genetic Screening Reveal that DSG2 is a Counter Receptor of Siglec-9 and Suppresses</a:t>
              </a:r>
              <a:b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Macrophage Phagocytosis.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381750"/>
              <a:ext cx="10323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[16] Colonic epithelial cells express specific ligands for mucosal macrophage immunosuppressive receptors Siglec-7 and -9.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 / 15</a:t>
              </a:r>
            </a:p>
          </p:txBody>
        </p:sp>
      </p:grpSp>
      <p:grpSp>
        <p:nvGrpSpPr>
          <p:cNvPr id="13" name="binding-evidence"/>
          <p:cNvGrpSpPr/>
          <p:nvPr/>
        </p:nvGrpSpPr>
        <p:grpSpPr>
          <a:xfrm>
            <a:off x="754380" y="1390650"/>
            <a:ext cx="6087789" cy="4493895"/>
            <a:chOff x="754380" y="1390650"/>
            <a:chExt cx="6087789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5032" y="1390650"/>
              <a:ext cx="5607137" cy="41910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5803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Wu等，Figure 4：遗传干预、pull-down与胞外域结合实验。</a:t>
              </a:r>
            </a:p>
          </p:txBody>
        </p:sp>
      </p:grpSp>
      <p:grpSp>
        <p:nvGrpSpPr>
          <p:cNvPr id="16" name="binding-interpretation"/>
          <p:cNvGrpSpPr/>
          <p:nvPr/>
        </p:nvGrpSpPr>
        <p:grpSpPr>
          <a:xfrm>
            <a:off x="7915656" y="1384300"/>
            <a:ext cx="3184398" cy="3609594"/>
            <a:chOff x="7915656" y="1384300"/>
            <a:chExt cx="3184398" cy="3609594"/>
          </a:xfrm>
        </p:grpSpPr>
        <p:sp>
          <p:nvSpPr>
            <p:cNvPr id="14" name="TextBox 14"/>
            <p:cNvSpPr txBox="1"/>
            <p:nvPr/>
          </p:nvSpPr>
          <p:spPr>
            <a:xfrm>
              <a:off x="7915656" y="1384300"/>
              <a:ext cx="3184398" cy="1723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B、C：DSG2敲低降低结合，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恢复表达后结合回升。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D：pull-down支持相互作用。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F、G：糖链处理及5Q突变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削弱DSG2–Siglec-9结合。[11]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15656" y="3613150"/>
              <a:ext cx="2807208" cy="1380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研究证明肿瘤体系中DSG2与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人Siglec-9存在直接联系。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肠上皮CM、鼠Siglec-E及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炎症功能仍需独立验证。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708124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Siglec相关炎症调节与NF-κB检测依据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00750"/>
              <a:ext cx="81360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[19] Soluble Siglec-9 alleviates intestinal inflammation through inhibition of the NF-κB pathway.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29350"/>
              <a:ext cx="70274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[9,17,18,20] 文献全称见本页备注；其中[18]用于说明模型差异，不能只保留支持性研究。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 / 15</a:t>
              </a:r>
            </a:p>
          </p:txBody>
        </p:sp>
      </p:grpSp>
      <p:grpSp>
        <p:nvGrpSpPr>
          <p:cNvPr id="13" name="nfkb-evidence"/>
          <p:cNvGrpSpPr/>
          <p:nvPr/>
        </p:nvGrpSpPr>
        <p:grpSpPr>
          <a:xfrm>
            <a:off x="754380" y="1390650"/>
            <a:ext cx="6321447" cy="4493895"/>
            <a:chOff x="754380" y="1390650"/>
            <a:chExt cx="6321447" cy="4493895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1372" y="1390650"/>
              <a:ext cx="6074455" cy="41910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54380" y="5591175"/>
              <a:ext cx="62654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Matsumoto等，Figure 4：RAW264.7炎症与NF-κB相关结果。</a:t>
              </a:r>
            </a:p>
          </p:txBody>
        </p:sp>
      </p:grpSp>
      <p:grpSp>
        <p:nvGrpSpPr>
          <p:cNvPr id="16" name="nfkb-interpretation"/>
          <p:cNvGrpSpPr/>
          <p:nvPr/>
        </p:nvGrpSpPr>
        <p:grpSpPr>
          <a:xfrm>
            <a:off x="7915656" y="1384300"/>
            <a:ext cx="2978658" cy="3876294"/>
            <a:chOff x="7915656" y="1384300"/>
            <a:chExt cx="2978658" cy="3876294"/>
          </a:xfrm>
        </p:grpSpPr>
        <p:sp>
          <p:nvSpPr>
            <p:cNvPr id="14" name="TextBox 14"/>
            <p:cNvSpPr txBox="1"/>
            <p:nvPr/>
          </p:nvSpPr>
          <p:spPr>
            <a:xfrm>
              <a:off x="7915656" y="1384300"/>
              <a:ext cx="2761488" cy="13807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A、B：可溶性Siglec-9影响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炎症因子及iNOS表达。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C：磷酸化NF-κB相关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信号发生改变。[20]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15656" y="3194050"/>
              <a:ext cx="2978658" cy="20665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本研究据此选择p-p65/总p65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与TNF-α、IL-6作为读出。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外源sSiglec-9不等于内源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Siglec-E；结合其条件性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阴性证据，仍需通过受体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敲低及救援确认参与。[18]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二、实验依据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67816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上皮来源CM与细胞配对的可行性依据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8015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[14] In vitro model to estimate gut inflammation using co-cultured Caco-2 and RAW264.7 cells.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 / 15</a:t>
              </a:r>
            </a:p>
          </p:txBody>
        </p:sp>
      </p:grpSp>
      <p:grpSp>
        <p:nvGrpSpPr>
          <p:cNvPr id="23" name="model-evidenc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52856" y="1562100"/>
              <a:ext cx="4504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Kristek等 [12]：上皮可溶性因子转移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57250" y="2057400"/>
              <a:ext cx="270510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838700" y="2057400"/>
              <a:ext cx="18097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924800" y="2057400"/>
              <a:ext cx="3067050" cy="590550"/>
            </a:xfrm>
            <a:prstGeom prst="roundRect">
              <a:avLst>
                <a:gd name="adj" fmla="val 1290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33856" y="2209800"/>
              <a:ext cx="2130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CMT-93上皮细胞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67706" y="2209800"/>
              <a:ext cx="9345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上皮CM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63306" y="2209800"/>
              <a:ext cx="22393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J774A.1巨噬细胞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7147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0" name="Line 20"/>
            <p:cNvSpPr/>
            <p:nvPr/>
          </p:nvSpPr>
          <p:spPr>
            <a:xfrm>
              <a:off x="6800850" y="2343150"/>
              <a:ext cx="9334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2856" y="2876550"/>
              <a:ext cx="56202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Tanoue等 [14]：Caco-2 / RAW264.7共培养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8106" y="3390900"/>
              <a:ext cx="68159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上皮与巨噬细胞配对　→　巨噬细胞炎症输出与上皮屏障变化</a:t>
              </a:r>
            </a:p>
          </p:txBody>
        </p:sp>
      </p:grpSp>
      <p:grpSp>
        <p:nvGrpSpPr>
          <p:cNvPr id="25" name="model-interpretation"/>
          <p:cNvGrpSpPr/>
          <p:nvPr/>
        </p:nvGrpSpPr>
        <p:grpSpPr>
          <a:xfrm>
            <a:off x="448056" y="4441825"/>
            <a:ext cx="9368028" cy="1037844"/>
            <a:chOff x="448056" y="4441825"/>
            <a:chExt cx="9368028" cy="1037844"/>
          </a:xfrm>
        </p:grpSpPr>
        <p:sp>
          <p:nvSpPr>
            <p:cNvPr id="24" name="TextBox 24"/>
            <p:cNvSpPr txBox="1"/>
            <p:nvPr/>
          </p:nvSpPr>
          <p:spPr>
            <a:xfrm>
              <a:off x="448056" y="4441825"/>
              <a:ext cx="936802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两项研究分别提供上皮CM调节巨噬细胞及Caco-2/RAW264.7配对的依据。[12,14] 前者支持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非直接接触作用，后者支持细胞组合；均不能替代本课题的分步CM预实验。正式实验需确认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跨物种兼容、靶分子可干预及非毒性的稳定效应，再进入两端分子验证。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48935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研究实施路线与分阶段验证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54230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实验路线依据《20261014-最终.docx》整理；箭头表示计划推进顺序。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5010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动物WB与细胞预实验可并行准备，正式机制验证以CM效应稳定为前提。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 / 15</a:t>
              </a:r>
            </a:p>
          </p:txBody>
        </p:sp>
      </p:grpSp>
      <p:grpSp>
        <p:nvGrpSpPr>
          <p:cNvPr id="28" name="experimental-route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858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56235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438900" y="2095500"/>
              <a:ext cx="23050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315450" y="2095500"/>
              <a:ext cx="21907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8620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动物组织WB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7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表型与蛋白关联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62756" y="23050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CM功能评价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64280" y="2809875"/>
              <a:ext cx="1722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明确稳定转移效应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39306" y="2305050"/>
              <a:ext cx="17263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供体DSG2干预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4083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敲低与恢复表达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515856" y="2305050"/>
              <a:ext cx="1590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Siglec-E干预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17380" y="280987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受体参与与救援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31051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5" name="Line 25"/>
            <p:cNvSpPr/>
            <p:nvPr/>
          </p:nvSpPr>
          <p:spPr>
            <a:xfrm>
              <a:off x="598170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6" name="Line 26"/>
            <p:cNvSpPr/>
            <p:nvPr/>
          </p:nvSpPr>
          <p:spPr>
            <a:xfrm>
              <a:off x="8858250" y="2686050"/>
              <a:ext cx="2857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8680" y="3581400"/>
              <a:ext cx="77236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细胞身份、支原体、表达/干预效率、活性及CM兼容性预实验贯穿正式比较之前。</a:t>
              </a:r>
            </a:p>
          </p:txBody>
        </p:sp>
      </p:grpSp>
      <p:grpSp>
        <p:nvGrpSpPr>
          <p:cNvPr id="30" name="route-interpretation"/>
          <p:cNvGrpSpPr/>
          <p:nvPr/>
        </p:nvGrpSpPr>
        <p:grpSpPr>
          <a:xfrm>
            <a:off x="448056" y="4441825"/>
            <a:ext cx="9253728" cy="1037844"/>
            <a:chOff x="448056" y="4441825"/>
            <a:chExt cx="9253728" cy="1037844"/>
          </a:xfrm>
        </p:grpSpPr>
        <p:sp>
          <p:nvSpPr>
            <p:cNvPr id="29" name="TextBox 29"/>
            <p:cNvSpPr txBox="1"/>
            <p:nvPr/>
          </p:nvSpPr>
          <p:spPr>
            <a:xfrm>
              <a:off x="448056" y="4441825"/>
              <a:ext cx="925372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研究按“组织关联—CM功能—供体依赖—接收端参与”逐层推进。动物WB可与细胞准备并行，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正式机制验证以稳定CM效应为前提。两端单独验证后，再组合药物、DSG2与Siglec-E状态，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评价两端干预对药物效应的影响；片段鉴定及直接结合研究根据结果后续展开。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69900"/>
              <a:ext cx="52989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动物组织蛋白检测与细胞定位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49824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[21] Dextran sulfate sodium (DSS)-induced colitis in mice.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9058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指标与实施顺序依据最终版Word；归一化、曝光及批次处理细节见本页备注。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 / 15</a:t>
              </a:r>
            </a:p>
          </p:txBody>
        </p:sp>
      </p:grpSp>
      <p:grpSp>
        <p:nvGrpSpPr>
          <p:cNvPr id="23" name="tissue-readouts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095500"/>
              <a:ext cx="2476500" cy="1066800"/>
            </a:xfrm>
            <a:prstGeom prst="roundRect">
              <a:avLst>
                <a:gd name="adj" fmla="val 714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56132" y="2235200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结肠组织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9180" y="2724150"/>
              <a:ext cx="21808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与动物编号 / 表型对应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352800" y="2171700"/>
              <a:ext cx="1143000" cy="419100"/>
            </a:xfrm>
            <a:custGeom>
              <a:avLst/>
              <a:gdLst/>
              <a:ahLst/>
              <a:cxnLst/>
              <a:rect l="l" t="t" r="r" b="b"/>
              <a:pathLst>
                <a:path w="1143000" h="419100">
                  <a:moveTo>
                    <a:pt x="0" y="41910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3352800" y="2705100"/>
              <a:ext cx="1143000" cy="571500"/>
            </a:xfrm>
            <a:custGeom>
              <a:avLst/>
              <a:gdLst/>
              <a:ahLst/>
              <a:cxnLst/>
              <a:rect l="l" t="t" r="r" b="b"/>
              <a:pathLst>
                <a:path w="1143000" h="571500">
                  <a:moveTo>
                    <a:pt x="0" y="0"/>
                  </a:moveTo>
                  <a:lnTo>
                    <a:pt x="11430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48200" y="16573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886706" y="1809750"/>
              <a:ext cx="4318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上皮连接：DSG2、ZO-1、Occludin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88230" y="2219325"/>
              <a:ext cx="31455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必要时结合DSG2片段与上皮定位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648200" y="2838450"/>
              <a:ext cx="6667500" cy="933450"/>
            </a:xfrm>
            <a:prstGeom prst="roundRect">
              <a:avLst>
                <a:gd name="adj" fmla="val 8163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86706" y="2990850"/>
              <a:ext cx="42911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炎症相关：Siglec-E、p-p65 / 总p65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888230" y="3400425"/>
              <a:ext cx="40904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必要时结合髓系定位与cleaved-caspase-3</a:t>
              </a:r>
            </a:p>
          </p:txBody>
        </p:sp>
      </p:grpSp>
      <p:grpSp>
        <p:nvGrpSpPr>
          <p:cNvPr id="25" name="tissue-interpretation"/>
          <p:cNvGrpSpPr/>
          <p:nvPr/>
        </p:nvGrpSpPr>
        <p:grpSpPr>
          <a:xfrm>
            <a:off x="448056" y="4441825"/>
            <a:ext cx="9459468" cy="1037844"/>
            <a:chOff x="448056" y="4441825"/>
            <a:chExt cx="9459468" cy="1037844"/>
          </a:xfrm>
        </p:grpSpPr>
        <p:sp>
          <p:nvSpPr>
            <p:cNvPr id="24" name="TextBox 24"/>
            <p:cNvSpPr txBox="1"/>
            <p:nvPr/>
          </p:nvSpPr>
          <p:spPr>
            <a:xfrm>
              <a:off x="448056" y="4441825"/>
              <a:ext cx="945946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组织WB用于建立动物表型与上皮连接、炎症信号的关联。以动物个体为生物学重复，均衡安排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批次并保持线性曝光，配对分析p-p65与总p65。总组织Siglec-E还受髓系细胞组成影响，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因此需结合细胞定位解释；组织表达关联不能替代后续细胞干预证据。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5654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CM制备、转移与炎症效应评价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9865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[12] Soluble factors from colonic epithelial cells contribute to gut homeostasis by modulating macrophage phenotype.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65885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具体收集条件、采样时点和残留评估依据最终版Word及预实验，不直接套用文献参数。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 / 15</a:t>
              </a:r>
            </a:p>
          </p:txBody>
        </p:sp>
      </p:grpSp>
      <p:grpSp>
        <p:nvGrpSpPr>
          <p:cNvPr id="24" name="cm-protocol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482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8534400" y="1943100"/>
              <a:ext cx="2876550" cy="1219200"/>
            </a:xfrm>
            <a:prstGeom prst="roundRect">
              <a:avLst>
                <a:gd name="adj" fmla="val 6250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98982" y="2073275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供体处理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2030" y="2619375"/>
              <a:ext cx="23301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基础 / 炎症 / 炎症+药物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85182" y="2073275"/>
              <a:ext cx="21122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洗涤换液与收集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88230" y="2619375"/>
              <a:ext cx="23622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统一活细胞量与收集条件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71382" y="2085975"/>
              <a:ext cx="22872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RAW264.7接收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74430" y="2619375"/>
              <a:ext cx="22722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固定CM比例及作用时程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37719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2" name="Line 22"/>
            <p:cNvSpPr/>
            <p:nvPr/>
          </p:nvSpPr>
          <p:spPr>
            <a:xfrm>
              <a:off x="7658100" y="2533650"/>
              <a:ext cx="7048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81456" y="3486150"/>
              <a:ext cx="7993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早期：p-p65 / 总p65　　　后期：鼠源Tnf、Il6及TNF-α、IL-6分泌</a:t>
              </a:r>
            </a:p>
          </p:txBody>
        </p:sp>
      </p:grpSp>
      <p:grpSp>
        <p:nvGrpSpPr>
          <p:cNvPr id="26" name="cm-protocol-interpretation"/>
          <p:cNvGrpSpPr/>
          <p:nvPr/>
        </p:nvGrpSpPr>
        <p:grpSpPr>
          <a:xfrm>
            <a:off x="448056" y="4441825"/>
            <a:ext cx="9516618" cy="1037844"/>
            <a:chOff x="448056" y="4441825"/>
            <a:chExt cx="9516618" cy="1037844"/>
          </a:xfrm>
        </p:grpSpPr>
        <p:sp>
          <p:nvSpPr>
            <p:cNvPr id="25" name="TextBox 25"/>
            <p:cNvSpPr txBox="1"/>
            <p:nvPr/>
          </p:nvSpPr>
          <p:spPr>
            <a:xfrm>
              <a:off x="448056" y="4441825"/>
              <a:ext cx="951661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处理期与收集期分开，评价换液后供体状态是否保留。通过培养液、残余药物/刺激物匹配对照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及两端活性检测，排除带入效应和细胞损伤。检测输入CM与无接收细胞平行样本，采用鼠源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特异检测，避免将人源因子带入误认为RAW264.7新产生的炎症输出。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62528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供体DSG2依赖性的干预与救援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65580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六组设计、独立siRNA及耐受构建体救援依据最终版Word；具体实施细节见本页备注。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7262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如需评价屏障功能，在相同Caco-2模型中补充成熟单层电阻或通透性检测。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 / 15</a:t>
              </a:r>
            </a:p>
          </p:txBody>
        </p:sp>
      </p:grpSp>
      <p:grpSp>
        <p:nvGrpSpPr>
          <p:cNvPr id="26" name="donor-interventi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381500" y="1581150"/>
              <a:ext cx="3429000" cy="514350"/>
            </a:xfrm>
            <a:prstGeom prst="roundRect">
              <a:avLst>
                <a:gd name="adj" fmla="val 14815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753356" y="1695450"/>
              <a:ext cx="19325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炎症背景Caco-2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429000" y="2133600"/>
              <a:ext cx="2000250" cy="419100"/>
            </a:xfrm>
            <a:custGeom>
              <a:avLst/>
              <a:gdLst/>
              <a:ahLst/>
              <a:cxnLst/>
              <a:rect l="l" t="t" r="r" b="b"/>
              <a:pathLst>
                <a:path w="2000250" h="419100">
                  <a:moveTo>
                    <a:pt x="2000250" y="0"/>
                  </a:moveTo>
                  <a:lnTo>
                    <a:pt x="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762750" y="2133600"/>
              <a:ext cx="2095500" cy="419100"/>
            </a:xfrm>
            <a:custGeom>
              <a:avLst/>
              <a:gdLst/>
              <a:ahLst/>
              <a:cxnLst/>
              <a:rect l="l" t="t" r="r" b="b"/>
              <a:pathLst>
                <a:path w="2095500" h="419100">
                  <a:moveTo>
                    <a:pt x="0" y="0"/>
                  </a:moveTo>
                  <a:lnTo>
                    <a:pt x="209550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046732" y="2597150"/>
              <a:ext cx="15148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非靶向对照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18882" y="2622550"/>
              <a:ext cx="12349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si-DSG2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866900" y="2990850"/>
              <a:ext cx="1028700" cy="381000"/>
            </a:xfrm>
            <a:custGeom>
              <a:avLst/>
              <a:gdLst/>
              <a:ahLst/>
              <a:cxnLst/>
              <a:rect l="l" t="t" r="r" b="b"/>
              <a:pathLst>
                <a:path w="1028700" h="381000">
                  <a:moveTo>
                    <a:pt x="10287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2895600" y="2990850"/>
              <a:ext cx="1428750" cy="381000"/>
            </a:xfrm>
            <a:custGeom>
              <a:avLst/>
              <a:gdLst/>
              <a:ahLst/>
              <a:cxnLst/>
              <a:rect l="l" t="t" r="r" b="b"/>
              <a:pathLst>
                <a:path w="1428750" h="381000">
                  <a:moveTo>
                    <a:pt x="0" y="0"/>
                  </a:moveTo>
                  <a:lnTo>
                    <a:pt x="14287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7353300" y="2990850"/>
              <a:ext cx="1181100" cy="381000"/>
            </a:xfrm>
            <a:custGeom>
              <a:avLst/>
              <a:gdLst/>
              <a:ahLst/>
              <a:cxnLst/>
              <a:rect l="l" t="t" r="r" b="b"/>
              <a:pathLst>
                <a:path w="1181100" h="381000">
                  <a:moveTo>
                    <a:pt x="11811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534400" y="2990850"/>
              <a:ext cx="1562100" cy="381000"/>
            </a:xfrm>
            <a:custGeom>
              <a:avLst/>
              <a:gdLst/>
              <a:ahLst/>
              <a:cxnLst/>
              <a:rect l="l" t="t" r="r" b="b"/>
              <a:pathLst>
                <a:path w="1562100" h="381000">
                  <a:moveTo>
                    <a:pt x="0" y="0"/>
                  </a:moveTo>
                  <a:lnTo>
                    <a:pt x="156210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4815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无药物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9610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加药物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3455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无药物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11106" y="347345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加药物</a:t>
              </a:r>
            </a:p>
          </p:txBody>
        </p:sp>
      </p:grpSp>
      <p:grpSp>
        <p:nvGrpSpPr>
          <p:cNvPr id="28" name="donor-interpretation"/>
          <p:cNvGrpSpPr/>
          <p:nvPr/>
        </p:nvGrpSpPr>
        <p:grpSpPr>
          <a:xfrm>
            <a:off x="448056" y="4441825"/>
            <a:ext cx="9528048" cy="1037844"/>
            <a:chOff x="448056" y="4441825"/>
            <a:chExt cx="9528048" cy="1037844"/>
          </a:xfrm>
        </p:grpSpPr>
        <p:sp>
          <p:nvSpPr>
            <p:cNvPr id="27" name="TextBox 27"/>
            <p:cNvSpPr txBox="1"/>
            <p:nvPr/>
          </p:nvSpPr>
          <p:spPr>
            <a:xfrm>
              <a:off x="448056" y="4441825"/>
              <a:ext cx="952804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炎症背景四组比较药物效应是否受DSG2敲低影响；基础培养另设对照与敲低，合计六组。CM均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作用于受体未干预的RAW264.7，以固定接收端。同步确认供体活性与敲低效率，关键结果采用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独立siRNA及耐受DSG2构建体救援；支持后再评价屏障功能或上清成分。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584447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接收端Siglec-E参与作用的验证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5492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四组比较、同批CM配对、受体救援及后续八条件组合依据最终版Word。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4962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交互作用、效应量、置信区间及样本量估算细节保留于本页备注。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 / 15</a:t>
              </a:r>
            </a:p>
          </p:txBody>
        </p:sp>
      </p:grpSp>
      <p:grpSp>
        <p:nvGrpSpPr>
          <p:cNvPr id="26" name="receiver-intervention"/>
          <p:cNvGrpSpPr/>
          <p:nvPr/>
        </p:nvGrpSpPr>
        <p:grpSpPr>
          <a:xfrm>
            <a:off x="457200" y="1390650"/>
            <a:ext cx="11277600" cy="2724150"/>
            <a:chOff x="457200" y="1390650"/>
            <a:chExt cx="11277600" cy="2724150"/>
          </a:xfrm>
        </p:grpSpPr>
        <p:sp>
          <p:nvSpPr>
            <p:cNvPr id="11" name="Rectangle 11"/>
            <p:cNvSpPr/>
            <p:nvPr/>
          </p:nvSpPr>
          <p:spPr>
            <a:xfrm>
              <a:off x="457200" y="1390650"/>
              <a:ext cx="11277600" cy="2724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286250" y="1581150"/>
              <a:ext cx="3619500" cy="514350"/>
            </a:xfrm>
            <a:prstGeom prst="roundRect">
              <a:avLst>
                <a:gd name="adj" fmla="val 14815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96206" y="1695450"/>
              <a:ext cx="24707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同批供体CM配对分配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257550" y="2133600"/>
              <a:ext cx="2171700" cy="419100"/>
            </a:xfrm>
            <a:custGeom>
              <a:avLst/>
              <a:gdLst/>
              <a:ahLst/>
              <a:cxnLst/>
              <a:rect l="l" t="t" r="r" b="b"/>
              <a:pathLst>
                <a:path w="2171700" h="419100">
                  <a:moveTo>
                    <a:pt x="2171700" y="0"/>
                  </a:moveTo>
                  <a:lnTo>
                    <a:pt x="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762750" y="2133600"/>
              <a:ext cx="2095500" cy="419100"/>
            </a:xfrm>
            <a:custGeom>
              <a:avLst/>
              <a:gdLst/>
              <a:ahLst/>
              <a:cxnLst/>
              <a:rect l="l" t="t" r="r" b="b"/>
              <a:pathLst>
                <a:path w="2095500" h="419100">
                  <a:moveTo>
                    <a:pt x="0" y="0"/>
                  </a:moveTo>
                  <a:lnTo>
                    <a:pt x="2095500" y="4191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646682" y="2609850"/>
              <a:ext cx="185501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正常Siglec-E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33132" y="2609850"/>
              <a:ext cx="165003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Siglece敲低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676400" y="2990850"/>
              <a:ext cx="1219200" cy="381000"/>
            </a:xfrm>
            <a:custGeom>
              <a:avLst/>
              <a:gdLst/>
              <a:ahLst/>
              <a:cxnLst/>
              <a:rect l="l" t="t" r="r" b="b"/>
              <a:pathLst>
                <a:path w="1219200" h="381000">
                  <a:moveTo>
                    <a:pt x="121920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2895600" y="2990850"/>
              <a:ext cx="1428750" cy="381000"/>
            </a:xfrm>
            <a:custGeom>
              <a:avLst/>
              <a:gdLst/>
              <a:ahLst/>
              <a:cxnLst/>
              <a:rect l="l" t="t" r="r" b="b"/>
              <a:pathLst>
                <a:path w="1428750" h="381000">
                  <a:moveTo>
                    <a:pt x="0" y="0"/>
                  </a:moveTo>
                  <a:lnTo>
                    <a:pt x="14287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7258050" y="2990850"/>
              <a:ext cx="1276350" cy="381000"/>
            </a:xfrm>
            <a:custGeom>
              <a:avLst/>
              <a:gdLst/>
              <a:ahLst/>
              <a:cxnLst/>
              <a:rect l="l" t="t" r="r" b="b"/>
              <a:pathLst>
                <a:path w="1276350" h="381000">
                  <a:moveTo>
                    <a:pt x="1276350" y="0"/>
                  </a:moveTo>
                  <a:lnTo>
                    <a:pt x="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8534400" y="2990850"/>
              <a:ext cx="1657350" cy="381000"/>
            </a:xfrm>
            <a:custGeom>
              <a:avLst/>
              <a:gdLst/>
              <a:ahLst/>
              <a:cxnLst/>
              <a:rect l="l" t="t" r="r" b="b"/>
              <a:pathLst>
                <a:path w="1657350" h="381000">
                  <a:moveTo>
                    <a:pt x="0" y="0"/>
                  </a:moveTo>
                  <a:lnTo>
                    <a:pt x="1657350" y="3810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5256" y="3486150"/>
              <a:ext cx="9345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炎症CM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34156" y="34861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药物供体CM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53556" y="3486150"/>
              <a:ext cx="9345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炎症CM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25356" y="348615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药物供体CM</a:t>
              </a:r>
            </a:p>
          </p:txBody>
        </p:sp>
      </p:grpSp>
      <p:grpSp>
        <p:nvGrpSpPr>
          <p:cNvPr id="28" name="receiver-interpretation"/>
          <p:cNvGrpSpPr/>
          <p:nvPr/>
        </p:nvGrpSpPr>
        <p:grpSpPr>
          <a:xfrm>
            <a:off x="448056" y="4441825"/>
            <a:ext cx="9608058" cy="1037844"/>
            <a:chOff x="448056" y="4441825"/>
            <a:chExt cx="9608058" cy="1037844"/>
          </a:xfrm>
        </p:grpSpPr>
        <p:sp>
          <p:nvSpPr>
            <p:cNvPr id="27" name="TextBox 27"/>
            <p:cNvSpPr txBox="1"/>
            <p:nvPr/>
          </p:nvSpPr>
          <p:spPr>
            <a:xfrm>
              <a:off x="448056" y="4441825"/>
              <a:ext cx="960805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四组设计检验CM类型与Siglece干预的交互作用，即比较正常及敲低状态下药物CM效应的差别，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而非仅比较两组终点。结合表面受体、活性、独立序列与受体救援验证。两端单独支持后再做</a:t>
              </a:r>
              <a:b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药物×DSG2×Siglec-E八条件整合，以独立CM制备批次为生物学重复，报告效应量与置信区间。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442722" y="190500"/>
            <a:ext cx="11292078" cy="866775"/>
            <a:chOff x="442722" y="190500"/>
            <a:chExt cx="11292078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451104" y="190500"/>
              <a:ext cx="1377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三、我的实验方案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2722" y="482600"/>
              <a:ext cx="80575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DSG2相关上皮变化介导免疫调节的机制假说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457200" y="10477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</p:grpSp>
      <p:grpSp>
        <p:nvGrpSpPr>
          <p:cNvPr id="10" name="references"/>
          <p:cNvGrpSpPr/>
          <p:nvPr/>
        </p:nvGrpSpPr>
        <p:grpSpPr>
          <a:xfrm>
            <a:off x="451104" y="5962650"/>
            <a:ext cx="11289792" cy="787146"/>
            <a:chOff x="451104" y="5962650"/>
            <a:chExt cx="11289792" cy="787146"/>
          </a:xfrm>
        </p:grpSpPr>
        <p:sp>
          <p:nvSpPr>
            <p:cNvPr id="6" name="Line 6"/>
            <p:cNvSpPr/>
            <p:nvPr/>
          </p:nvSpPr>
          <p:spPr>
            <a:xfrm>
              <a:off x="457200" y="5962650"/>
              <a:ext cx="11277600" cy="9525"/>
            </a:xfrm>
            <a:custGeom>
              <a:avLst/>
              <a:gdLst/>
              <a:ahLst/>
              <a:cxnLst/>
              <a:rect l="l" t="t" r="r" b="b"/>
              <a:pathLst>
                <a:path w="11277600" h="9525">
                  <a:moveTo>
                    <a:pt x="0" y="0"/>
                  </a:moveTo>
                  <a:lnTo>
                    <a:pt x="11277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1104" y="6038850"/>
              <a:ext cx="82257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虚线均表示待验证关系。文献线索为[11]人Siglec-9结合研究与[17]上皮GD3–Siglec-E研究，全称见备注。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51104" y="6276975"/>
              <a:ext cx="59970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Caco-2/RAW264.7跨物种模型及CM复杂性仍是解释结果时需要保留的限制。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156899" y="6515100"/>
              <a:ext cx="5839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15 / 15</a:t>
              </a:r>
            </a:p>
          </p:txBody>
        </p:sp>
      </p:grpSp>
      <p:grpSp>
        <p:nvGrpSpPr>
          <p:cNvPr id="41" name="cellular-mechanism"/>
          <p:cNvGrpSpPr/>
          <p:nvPr/>
        </p:nvGrpSpPr>
        <p:grpSpPr>
          <a:xfrm>
            <a:off x="571500" y="1143000"/>
            <a:ext cx="11068050" cy="4762500"/>
            <a:chOff x="571500" y="1143000"/>
            <a:chExt cx="11068050" cy="4762500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66900" y="1143000"/>
              <a:ext cx="8458200" cy="4762500"/>
            </a:xfrm>
            <a:prstGeom prst="rect">
              <a:avLst/>
            </a:prstGeom>
          </p:spPr>
        </p:pic>
        <p:sp>
          <p:nvSpPr>
            <p:cNvPr id="12" name="Rectangle 12"/>
            <p:cNvSpPr/>
            <p:nvPr/>
          </p:nvSpPr>
          <p:spPr>
            <a:xfrm>
              <a:off x="2095500" y="1238250"/>
              <a:ext cx="2343150" cy="361950"/>
            </a:xfrm>
            <a:prstGeom prst="roundRect">
              <a:avLst>
                <a:gd name="adj" fmla="val 2105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19706" y="1276350"/>
              <a:ext cx="17210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Caco-2肠上皮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58100" y="1238250"/>
              <a:ext cx="3181350" cy="361950"/>
            </a:xfrm>
            <a:prstGeom prst="roundRect">
              <a:avLst>
                <a:gd name="adj" fmla="val 2105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801356" y="1276350"/>
              <a:ext cx="25440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RAW264.7巨噬细胞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71500" y="1885950"/>
              <a:ext cx="1428750" cy="666750"/>
            </a:xfrm>
            <a:prstGeom prst="roundRect">
              <a:avLst>
                <a:gd name="adj" fmla="val 11429"/>
              </a:avLst>
            </a:prstGeom>
            <a:solidFill>
              <a:srgbClr val="E4EF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2856" y="2044700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药物处理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2019300" y="2238375"/>
              <a:ext cx="723900" cy="238125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90550" y="3352800"/>
              <a:ext cx="1905000" cy="723900"/>
            </a:xfrm>
            <a:prstGeom prst="roundRect">
              <a:avLst>
                <a:gd name="adj" fmla="val 1052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3806" y="3419475"/>
              <a:ext cx="17263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DSG2相关状态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5330" y="3752850"/>
              <a:ext cx="15407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供体敲低 / 救援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2533650" y="3638550"/>
              <a:ext cx="838200" cy="76200"/>
            </a:xfrm>
            <a:custGeom>
              <a:avLst/>
              <a:gdLst/>
              <a:ahLst/>
              <a:cxnLst/>
              <a:rect l="l" t="t" r="r" b="b"/>
              <a:pathLst>
                <a:path w="838200" h="76200">
                  <a:moveTo>
                    <a:pt x="0" y="76200"/>
                  </a:moveTo>
                  <a:lnTo>
                    <a:pt x="838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143500" y="1657350"/>
              <a:ext cx="1733550" cy="666750"/>
            </a:xfrm>
            <a:prstGeom prst="roundRect">
              <a:avLst>
                <a:gd name="adj" fmla="val 1142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7706" y="1714500"/>
              <a:ext cx="14465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上皮来源CM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69230" y="2028825"/>
              <a:ext cx="1295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活性成分未定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5753100" y="2476500"/>
              <a:ext cx="952500" cy="2476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29350" y="3181350"/>
              <a:ext cx="1638300" cy="609600"/>
            </a:xfrm>
            <a:prstGeom prst="roundRect">
              <a:avLst>
                <a:gd name="adj" fmla="val 125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72606" y="3222625"/>
              <a:ext cx="10779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Siglec-E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74130" y="3514725"/>
              <a:ext cx="1508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受体参与待验证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6953250" y="2809875"/>
              <a:ext cx="76200" cy="333375"/>
            </a:xfrm>
            <a:custGeom>
              <a:avLst/>
              <a:gdLst/>
              <a:ahLst/>
              <a:cxnLst/>
              <a:rect l="l" t="t" r="r" b="b"/>
              <a:pathLst>
                <a:path w="76200" h="333375">
                  <a:moveTo>
                    <a:pt x="0" y="333375"/>
                  </a:moveTo>
                  <a:lnTo>
                    <a:pt x="76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267700" y="2667000"/>
              <a:ext cx="2324100" cy="666750"/>
            </a:xfrm>
            <a:prstGeom prst="roundRect">
              <a:avLst>
                <a:gd name="adj" fmla="val 1142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430006" y="2724150"/>
              <a:ext cx="18596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NF-κB相关反应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1530" y="3048000"/>
              <a:ext cx="14127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p-p65 / 总p65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277100" y="2762250"/>
              <a:ext cx="838200" cy="1905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001250" y="3886200"/>
              <a:ext cx="1638300" cy="742950"/>
            </a:xfrm>
            <a:prstGeom prst="roundRect">
              <a:avLst>
                <a:gd name="adj" fmla="val 1025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144506" y="3949700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炎症输出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146030" y="4327525"/>
              <a:ext cx="14862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TNF-α / IL-6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10172700" y="3409950"/>
              <a:ext cx="514350" cy="3619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90550" y="5334000"/>
              <a:ext cx="10953750" cy="4381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35330" y="5438775"/>
              <a:ext cx="85091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机制假说示意：虚线均为拟检验作用；功能依赖不等于DSG2片段与鼠Siglec-E直接结合。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SG2_Siglec_final">
  <a:themeElements>
    <a:clrScheme name="DSG2_Siglec_final">
      <a:dk1>
        <a:srgbClr val="18312E"/>
      </a:dk1>
      <a:lt1>
        <a:srgbClr val="F2F3F2"/>
      </a:lt1>
      <a:dk2>
        <a:srgbClr val="1F497D"/>
      </a:dk2>
      <a:lt2>
        <a:srgbClr val="FFFFFF"/>
      </a:lt2>
      <a:accent1>
        <a:srgbClr val="075E45"/>
      </a:accent1>
      <a:accent2>
        <a:srgbClr val="00A65A"/>
      </a:accent2>
      <a:accent3>
        <a:srgbClr val="B16C23"/>
      </a:accent3>
      <a:accent4>
        <a:srgbClr val="075E45"/>
      </a:accent4>
      <a:accent5>
        <a:srgbClr val="52615D"/>
      </a:accent5>
      <a:accent6>
        <a:srgbClr val="CAD7CF"/>
      </a:accent6>
      <a:hlink>
        <a:srgbClr val="00A65A"/>
      </a:hlink>
      <a:folHlink>
        <a:srgbClr val="B16C23"/>
      </a:folHlink>
    </a:clrScheme>
    <a:fontScheme name="DSG2_Siglec_final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SG2_Siglec_fin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2026-10-15T14:11:55Z</dcterms:created>
  <dcterms:modified xsi:type="dcterms:W3CDTF">2026-10-15T14:11:55Z</dcterms:modified>
  <cp:category/>
  <cp:contentStatus/>
</cp:coreProperties>
</file>