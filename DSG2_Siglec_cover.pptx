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_tf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p15="http://schemas.microsoft.com/office/powerpoint/2012/main" xmlns:r="http://schemas.openxmlformats.org/officeDocument/2006/relationships" autoCompressPictures="0">
  <p:sldMasterIdLst>
    <p:sldMasterId id="2147483648" r:id="rId1"/>
  </p:sldMasterIdLst>
  <p:notesMasterIdLst>
    <p:notesMasterId r:id="rId4"/>
  </p:notesMasterIdLst>
  <p:sldIdLst>
    <p:sldId id="256" r:id="rId23"/>
  </p:sldIdLst>
  <p:sldSz cx="12192000" cy="6858000" type="screen16x9"/>
  <p:notesSz cx="6858000" cy="9144000"/>
  <p:defaultTextStyle>
    <a:defPPr>
      <a:defRPr lang="zh-CN"/>
    </a:defPPr>
    <a:lvl1pPr marL="0" algn="l" defTabSz="457200" rtl="0" eaLnBrk="1" latinLnBrk="0" hangingPunct="1">
      <a:defRPr lang="zh-CN" sz="1800" kern="1200">
        <a:solidFill>
          <a:schemeClr val="tx1"/>
        </a:solidFill>
        <a:latin typeface="+mn-lt"/>
        <a:ea typeface="+mn-ea"/>
        <a:cs typeface="+mn-cs"/>
      </a:defRPr>
    </a:lvl1pPr>
    <a:lvl2pPr marL="457200" algn="l" defTabSz="457200" rtl="0" eaLnBrk="1" latinLnBrk="0" hangingPunct="1">
      <a:defRPr lang="zh-CN" sz="1800" kern="1200">
        <a:solidFill>
          <a:schemeClr val="tx1"/>
        </a:solidFill>
        <a:latin typeface="+mn-lt"/>
        <a:ea typeface="+mn-ea"/>
        <a:cs typeface="+mn-cs"/>
      </a:defRPr>
    </a:lvl2pPr>
    <a:lvl3pPr marL="914400" algn="l" defTabSz="457200" rtl="0" eaLnBrk="1" latinLnBrk="0" hangingPunct="1">
      <a:defRPr lang="zh-CN" sz="1800" kern="1200">
        <a:solidFill>
          <a:schemeClr val="tx1"/>
        </a:solidFill>
        <a:latin typeface="+mn-lt"/>
        <a:ea typeface="+mn-ea"/>
        <a:cs typeface="+mn-cs"/>
      </a:defRPr>
    </a:lvl3pPr>
    <a:lvl4pPr marL="1371600" algn="l" defTabSz="457200" rtl="0" eaLnBrk="1" latinLnBrk="0" hangingPunct="1">
      <a:defRPr lang="zh-CN" sz="1800" kern="1200">
        <a:solidFill>
          <a:schemeClr val="tx1"/>
        </a:solidFill>
        <a:latin typeface="+mn-lt"/>
        <a:ea typeface="+mn-ea"/>
        <a:cs typeface="+mn-cs"/>
      </a:defRPr>
    </a:lvl4pPr>
    <a:lvl5pPr marL="1828800" algn="l" defTabSz="457200" rtl="0" eaLnBrk="1" latinLnBrk="0" hangingPunct="1">
      <a:defRPr lang="zh-CN" sz="1800" kern="1200">
        <a:solidFill>
          <a:schemeClr val="tx1"/>
        </a:solidFill>
        <a:latin typeface="+mn-lt"/>
        <a:ea typeface="+mn-ea"/>
        <a:cs typeface="+mn-cs"/>
      </a:defRPr>
    </a:lvl5pPr>
    <a:lvl6pPr marL="2286000" algn="l" defTabSz="457200" rtl="0" eaLnBrk="1" latinLnBrk="0" hangingPunct="1">
      <a:defRPr lang="zh-CN" sz="1800" kern="1200">
        <a:solidFill>
          <a:schemeClr val="tx1"/>
        </a:solidFill>
        <a:latin typeface="+mn-lt"/>
        <a:ea typeface="+mn-ea"/>
        <a:cs typeface="+mn-cs"/>
      </a:defRPr>
    </a:lvl6pPr>
    <a:lvl7pPr marL="2743200" algn="l" defTabSz="457200" rtl="0" eaLnBrk="1" latinLnBrk="0" hangingPunct="1">
      <a:defRPr lang="zh-CN" sz="1800" kern="1200">
        <a:solidFill>
          <a:schemeClr val="tx1"/>
        </a:solidFill>
        <a:latin typeface="+mn-lt"/>
        <a:ea typeface="+mn-ea"/>
        <a:cs typeface="+mn-cs"/>
      </a:defRPr>
    </a:lvl7pPr>
    <a:lvl8pPr marL="3200400" algn="l" defTabSz="457200" rtl="0" eaLnBrk="1" latinLnBrk="0" hangingPunct="1">
      <a:defRPr lang="zh-CN" sz="1800" kern="1200">
        <a:solidFill>
          <a:schemeClr val="tx1"/>
        </a:solidFill>
        <a:latin typeface="+mn-lt"/>
        <a:ea typeface="+mn-ea"/>
        <a:cs typeface="+mn-cs"/>
      </a:defRPr>
    </a:lvl8pPr>
    <a:lvl9pPr marL="3657600" algn="l" defTabSz="457200" rtl="0" eaLnBrk="1" latinLnBrk="0" hangingPunct="1">
      <a:defRPr lang="zh-CN" sz="1800" kern="1200">
        <a:solidFill>
          <a:schemeClr val="tx1"/>
        </a:solidFill>
        <a:latin typeface="+mn-lt"/>
        <a:ea typeface="+mn-ea"/>
        <a:cs typeface="+mn-cs"/>
      </a:defRPr>
    </a:lvl9pPr>
  </p:defaultTextStyle>
  <p:extLst>
    <p:ext uri="{EFAFB233-063F-42B5-8137-9DF3F51BA10A}">
      <p15:sldGuideLst>
        <p15:guide id="1" orient="horz" pos="2160" userDrawn="1">
          <p15:clr>
            <a:srgbClr val="A4A3A4"/>
          </p15:clr>
        </p15:guide>
        <p15:guide id="2" pos="28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74"/>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4" Type="http://schemas.openxmlformats.org/officeDocument/2006/relationships/notesMaster" Target="notesMasters/notesMaster1.xml" /><Relationship Id="rId22" Type="http://schemas.openxmlformats.org/officeDocument/2006/relationships/tableStyles" Target="tableStyles.xml" /><Relationship Id="rId21" Type="http://schemas.openxmlformats.org/officeDocument/2006/relationships/viewProps" Target="viewProps.xml" /><Relationship Id="rId20" Type="http://schemas.openxmlformats.org/officeDocument/2006/relationships/presProps" Target="presProps.xml" /><Relationship Id="rId2" Type="http://schemas.openxmlformats.org/officeDocument/2006/relationships/theme" Target="theme/theme1.xml" /><Relationship Id="rId1" Type="http://schemas.openxmlformats.org/officeDocument/2006/relationships/slideMaster" Target="slideMasters/slideMaster1.xml" /><Relationship Id="rId23" Type="http://schemas.openxmlformats.org/officeDocument/2006/relationships/slide" Target="slides/slid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zh-CN"/>
          </a:p>
        </p:txBody>
      </p:sp>
    </p:spTree>
  </p:cSld>
  <p:clrMap bg1="lt1" tx1="dk1" bg2="lt2" tx2="dk2" accent1="accent1" accent2="accent2" accent3="accent3" accent4="accent4" accent5="accent5" accent6="accent6" hlink="hlink" folHlink="folHlink"/>
  <p:hf/>
  <p:notesStyle>
    <a:lvl1pPr marL="0" algn="l">
      <a:defRPr lang="zh-CN" sz="1200"/>
    </a:lvl1pPr>
  </p:notesStyle>
</p:notesMaster>
</file>

<file path=ppt/notesSlides/_rels/notesSlide1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次汇报围绕DSG2相关肠上皮变化与Siglec-E参与的巨噬细胞反应展开，依次介绍研究背景、文献依据及后续实验设计。重点讨论条件培养基转移模型及两端分子干预如何用于检验上皮与免疫细胞之间的功能联系，具体机制仍需实验验证。</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SG2_Siglec_fin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altLang="en-US" smtClean="0"/>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zh-CN" sz="1200">
                <a:solidFill>
                  <a:schemeClr val="tx1">
                    <a:tint val="75000"/>
                  </a:schemeClr>
                </a:solidFill>
              </a:defRPr>
            </a:lvl1pPr>
          </a:lstStyle>
          <a:p>
            <a:fld id="{5BCAD085-E8A6-8845-BD4E-CB4CCA059FC4}" type="datetimeFigureOut">
              <a:rPr lang="zh-CN" altLang="en-US" smtClean="0"/>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zh-CN"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zh-CN" sz="1200">
                <a:solidFill>
                  <a:schemeClr val="tx1">
                    <a:tint val="75000"/>
                  </a:schemeClr>
                </a:solidFill>
              </a:defRPr>
            </a:lvl1pPr>
          </a:lstStyle>
          <a:p>
            <a:fld id="{C1FF6DA9-008F-8B48-92A6-B652298478BF}" type="slidenum">
              <a:rPr lang="zh-CN" smtClean="0"/>
            </a:fld>
            <a:endParaRPr lang="zh-CN"/>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1" latinLnBrk="0" hangingPunct="1">
        <a:spcBef>
          <a:spcPct val="0"/>
        </a:spcBef>
        <a:buNone/>
        <a:defRPr lang="zh-CN" sz="28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lang="zh-CN" sz="18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lang="zh-CN" sz="17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lang="zh-CN" sz="16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lang="zh-CN" sz="145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lang="zh-CN" sz="135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lang="zh-CN" sz="125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lang="zh-CN" sz="11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lang="zh-CN" sz="1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lang="zh-CN" sz="900" kern="1200">
          <a:solidFill>
            <a:schemeClr val="tx1"/>
          </a:solidFill>
          <a:latin typeface="+mn-lt"/>
          <a:ea typeface="+mn-ea"/>
          <a:cs typeface="+mn-cs"/>
        </a:defRPr>
      </a:lvl9pPr>
    </p:bodyStyle>
    <p:otherStyle>
      <a:defPPr>
        <a:defRPr lang="zh-CN"/>
      </a:defPPr>
      <a:lvl1pPr marL="0" algn="l" defTabSz="457200" rtl="0" eaLnBrk="1" latinLnBrk="0" hangingPunct="1">
        <a:defRPr lang="zh-CN" sz="1800" kern="1200">
          <a:solidFill>
            <a:schemeClr val="tx1"/>
          </a:solidFill>
          <a:latin typeface="+mn-lt"/>
          <a:ea typeface="+mn-ea"/>
          <a:cs typeface="+mn-cs"/>
        </a:defRPr>
      </a:lvl1pPr>
      <a:lvl2pPr marL="457200" algn="l" defTabSz="457200" rtl="0" eaLnBrk="1" latinLnBrk="0" hangingPunct="1">
        <a:defRPr lang="zh-CN" sz="1700" kern="1200">
          <a:solidFill>
            <a:schemeClr val="tx1"/>
          </a:solidFill>
          <a:latin typeface="+mn-lt"/>
          <a:ea typeface="+mn-ea"/>
          <a:cs typeface="+mn-cs"/>
        </a:defRPr>
      </a:lvl2pPr>
      <a:lvl3pPr marL="914400" algn="l" defTabSz="457200" rtl="0" eaLnBrk="1" latinLnBrk="0" hangingPunct="1">
        <a:defRPr lang="zh-CN" sz="1600" kern="1200">
          <a:solidFill>
            <a:schemeClr val="tx1"/>
          </a:solidFill>
          <a:latin typeface="+mn-lt"/>
          <a:ea typeface="+mn-ea"/>
          <a:cs typeface="+mn-cs"/>
        </a:defRPr>
      </a:lvl3pPr>
      <a:lvl4pPr marL="1371600" algn="l" defTabSz="457200" rtl="0" eaLnBrk="1" latinLnBrk="0" hangingPunct="1">
        <a:defRPr lang="zh-CN" sz="1450" kern="1200">
          <a:solidFill>
            <a:schemeClr val="tx1"/>
          </a:solidFill>
          <a:latin typeface="+mn-lt"/>
          <a:ea typeface="+mn-ea"/>
          <a:cs typeface="+mn-cs"/>
        </a:defRPr>
      </a:lvl4pPr>
      <a:lvl5pPr marL="1828800" algn="l" defTabSz="457200" rtl="0" eaLnBrk="1" latinLnBrk="0" hangingPunct="1">
        <a:defRPr lang="zh-CN" sz="1350" kern="1200">
          <a:solidFill>
            <a:schemeClr val="tx1"/>
          </a:solidFill>
          <a:latin typeface="+mn-lt"/>
          <a:ea typeface="+mn-ea"/>
          <a:cs typeface="+mn-cs"/>
        </a:defRPr>
      </a:lvl5pPr>
      <a:lvl6pPr marL="2286000" algn="l" defTabSz="457200" rtl="0" eaLnBrk="1" latinLnBrk="0" hangingPunct="1">
        <a:defRPr lang="zh-CN" sz="1250" kern="1200">
          <a:solidFill>
            <a:schemeClr val="tx1"/>
          </a:solidFill>
          <a:latin typeface="+mn-lt"/>
          <a:ea typeface="+mn-ea"/>
          <a:cs typeface="+mn-cs"/>
        </a:defRPr>
      </a:lvl6pPr>
      <a:lvl7pPr marL="2743200" algn="l" defTabSz="457200" rtl="0" eaLnBrk="1" latinLnBrk="0" hangingPunct="1">
        <a:defRPr lang="zh-CN" sz="1100" kern="1200">
          <a:solidFill>
            <a:schemeClr val="tx1"/>
          </a:solidFill>
          <a:latin typeface="+mn-lt"/>
          <a:ea typeface="+mn-ea"/>
          <a:cs typeface="+mn-cs"/>
        </a:defRPr>
      </a:lvl7pPr>
      <a:lvl8pPr marL="3200400" algn="l" defTabSz="457200" rtl="0" eaLnBrk="1" latinLnBrk="0" hangingPunct="1">
        <a:defRPr lang="zh-CN" sz="1000" kern="1200">
          <a:solidFill>
            <a:schemeClr val="tx1"/>
          </a:solidFill>
          <a:latin typeface="+mn-lt"/>
          <a:ea typeface="+mn-ea"/>
          <a:cs typeface="+mn-cs"/>
        </a:defRPr>
      </a:lvl8pPr>
      <a:lvl9pPr marL="3657600" algn="l" defTabSz="457200" rtl="0" eaLnBrk="1" latinLnBrk="0" hangingPunct="1">
        <a:defRPr lang="zh-CN" sz="9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2" Type="http://schemas.openxmlformats.org/officeDocument/2006/relationships/slideLayout" Target="../slideLayouts/slideLayout1.xml" /><Relationship Id="rId4" Type="http://schemas.openxmlformats.org/officeDocument/2006/relationships/image" Target="../media/image_2d07fa07d74784e4.png" />  <Relationship Id="rId5" Type="http://schemas.openxmlformats.org/officeDocument/2006/relationships/notesSlide" Target="../notesSlides/notesSlide1_tf1.xml" />
</Relationships>
</file>

<file path=ppt/slides/slide1.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8" name="cover-title"/>
          <p:cNvGrpSpPr/>
          <p:nvPr/>
        </p:nvGrpSpPr>
        <p:grpSpPr>
          <a:xfrm>
            <a:off x="514350" y="900112"/>
            <a:ext cx="4559595" cy="3658807"/>
            <a:chOff x="514350" y="900112"/>
            <a:chExt cx="4559595" cy="3658807"/>
          </a:xfrm>
        </p:grpSpPr>
        <p:sp>
          <p:nvSpPr>
            <p:cNvPr id="2" name="Line 2"/>
            <p:cNvSpPr/>
            <p:nvPr/>
          </p:nvSpPr>
          <p:spPr>
            <a:xfrm>
              <a:off x="533400" y="900112"/>
              <a:ext cx="552450" cy="9525"/>
            </a:xfrm>
            <a:custGeom>
              <a:avLst/>
              <a:gdLst/>
              <a:ahLst/>
              <a:cxnLst/>
              <a:rect l="l" t="t" r="r" b="b"/>
              <a:pathLst>
                <a:path w="552450" h="9525">
                  <a:moveTo>
                    <a:pt x="0" y="0"/>
                  </a:moveTo>
                  <a:lnTo>
                    <a:pt x="552450" y="0"/>
                  </a:lnTo>
                </a:path>
              </a:pathLst>
            </a:custGeom>
            <a:noFill/>
            <a:ln w="47625">
              <a:solidFill>
                <a:srgbClr val="00A65A"/>
              </a:solidFill>
            </a:ln>
          </p:spPr>
        </p:sp>
        <p:sp>
          <p:nvSpPr>
            <p:cNvPr id="3" name="TextBox 3"/>
            <p:cNvSpPr txBox="1"/>
            <p:nvPr/>
          </p:nvSpPr>
          <p:spPr>
            <a:xfrm>
              <a:off x="525780" y="1066800"/>
              <a:ext cx="1967484" cy="293370"/>
            </a:xfrm>
            <a:prstGeom prst="rect">
              <a:avLst/>
            </a:prstGeom>
            <a:noFill/>
            <a:ln>
              <a:noFill/>
            </a:ln>
          </p:spPr>
          <p:txBody>
            <a:bodyPr wrap="none" lIns="0" tIns="0" rIns="0" bIns="0" anchor="t" anchorCtr="0">
              <a:spAutoFit/>
            </a:bodyPr>
            <a:lstStyle/>
            <a:p>
              <a:pPr algn="l"/>
              <a:r>
                <a:rPr lang="zh-CN" sz="1500" dirty="0">
                  <a:solidFill>
                    <a:srgbClr val="075E45"/>
                  </a:solidFill>
                  <a:latin typeface="Times New Roman"/>
                  <a:ea typeface="SimSun"/>
                  <a:cs typeface="Times New Roman"/>
                </a:rPr>
                <a:t>文献整合 · 组会汇报</a:t>
              </a:r>
            </a:p>
          </p:txBody>
        </p:sp>
        <p:sp>
          <p:nvSpPr>
            <p:cNvPr id="4" name="TextBox 4"/>
            <p:cNvSpPr txBox="1"/>
            <p:nvPr/>
          </p:nvSpPr>
          <p:spPr>
            <a:xfrm>
              <a:off x="514350" y="1755775"/>
              <a:ext cx="4559595" cy="762000"/>
            </a:xfrm>
            <a:prstGeom prst="rect">
              <a:avLst/>
            </a:prstGeom>
            <a:noFill/>
            <a:ln>
              <a:noFill/>
            </a:ln>
          </p:spPr>
          <p:txBody>
            <a:bodyPr wrap="none" lIns="0" tIns="0" rIns="0" bIns="0" anchor="t" anchorCtr="0">
              <a:spAutoFit/>
            </a:bodyPr>
            <a:lstStyle/>
            <a:p>
              <a:pPr algn="l"/>
              <a:r>
                <a:rPr lang="zh-CN" sz="3900" b="1" dirty="0">
                  <a:solidFill>
                    <a:srgbClr val="075E45"/>
                  </a:solidFill>
                  <a:latin typeface="Times New Roman"/>
                  <a:ea typeface="SimSun"/>
                  <a:cs typeface="Times New Roman"/>
                </a:rPr>
                <a:t>DSG2与Siglec-E</a:t>
              </a:r>
            </a:p>
          </p:txBody>
        </p:sp>
        <p:sp>
          <p:nvSpPr>
            <p:cNvPr id="5" name="TextBox 5"/>
            <p:cNvSpPr txBox="1"/>
            <p:nvPr/>
          </p:nvSpPr>
          <p:spPr>
            <a:xfrm>
              <a:off x="517398" y="2495550"/>
              <a:ext cx="3463433" cy="1225677"/>
            </a:xfrm>
            <a:prstGeom prst="rect">
              <a:avLst/>
            </a:prstGeom>
            <a:noFill/>
            <a:ln>
              <a:noFill/>
            </a:ln>
          </p:spPr>
          <p:txBody>
            <a:bodyPr wrap="none" lIns="0" tIns="0" rIns="0" bIns="0" anchor="t" anchorCtr="0">
              <a:spAutoFit/>
            </a:bodyPr>
            <a:lstStyle/>
            <a:p>
              <a:pPr algn="l">
                <a:lnSpc>
                  <a:spcPts val="4800"/>
                </a:lnSpc>
              </a:pPr>
              <a:r>
                <a:rPr lang="zh-CN" sz="3150" b="1" dirty="0">
                  <a:solidFill>
                    <a:srgbClr val="075E45"/>
                  </a:solidFill>
                  <a:latin typeface="Times New Roman"/>
                  <a:ea typeface="SimSun"/>
                  <a:cs typeface="Times New Roman"/>
                </a:rPr>
                <a:t>在肠上皮—巨噬细胞</a:t>
              </a:r>
              <a:br>
                <a:rPr lang="zh-CN" sz="3150" b="1" dirty="0">
                  <a:solidFill>
                    <a:srgbClr val="075E45"/>
                  </a:solidFill>
                  <a:latin typeface="Times New Roman"/>
                  <a:ea typeface="SimSun"/>
                  <a:cs typeface="Times New Roman"/>
                </a:rPr>
              </a:br>
              <a:r>
                <a:rPr lang="zh-CN" sz="3150" b="1" dirty="0">
                  <a:solidFill>
                    <a:srgbClr val="075E45"/>
                  </a:solidFill>
                  <a:latin typeface="Times New Roman"/>
                  <a:ea typeface="SimSun"/>
                  <a:cs typeface="Times New Roman"/>
                </a:rPr>
                <a:t>互作中的作用</a:t>
              </a:r>
            </a:p>
          </p:txBody>
        </p:sp>
        <p:sp>
          <p:nvSpPr>
            <p:cNvPr id="6" name="Line 6"/>
            <p:cNvSpPr/>
            <p:nvPr/>
          </p:nvSpPr>
          <p:spPr>
            <a:xfrm>
              <a:off x="533400" y="3981450"/>
              <a:ext cx="1314450" cy="9525"/>
            </a:xfrm>
            <a:custGeom>
              <a:avLst/>
              <a:gdLst/>
              <a:ahLst/>
              <a:cxnLst/>
              <a:rect l="l" t="t" r="r" b="b"/>
              <a:pathLst>
                <a:path w="1314450" h="9525">
                  <a:moveTo>
                    <a:pt x="0" y="0"/>
                  </a:moveTo>
                  <a:lnTo>
                    <a:pt x="1314450" y="0"/>
                  </a:lnTo>
                </a:path>
              </a:pathLst>
            </a:custGeom>
            <a:noFill/>
            <a:ln w="28575">
              <a:solidFill>
                <a:srgbClr val="00A65A"/>
              </a:solidFill>
            </a:ln>
          </p:spPr>
        </p:sp>
        <p:sp>
          <p:nvSpPr>
            <p:cNvPr id="7" name="TextBox 7"/>
            <p:cNvSpPr txBox="1"/>
            <p:nvPr/>
          </p:nvSpPr>
          <p:spPr>
            <a:xfrm>
              <a:off x="524256" y="4206875"/>
              <a:ext cx="3602736" cy="352044"/>
            </a:xfrm>
            <a:prstGeom prst="rect">
              <a:avLst/>
            </a:prstGeom>
            <a:noFill/>
            <a:ln>
              <a:noFill/>
            </a:ln>
          </p:spPr>
          <p:txBody>
            <a:bodyPr wrap="none" lIns="0" tIns="0" rIns="0" bIns="0" anchor="t" anchorCtr="0">
              <a:spAutoFit/>
            </a:bodyPr>
            <a:lstStyle/>
            <a:p>
              <a:pPr algn="l"/>
              <a:r>
                <a:rPr lang="zh-CN" sz="1800" dirty="0">
                  <a:solidFill>
                    <a:srgbClr val="52615D"/>
                  </a:solidFill>
                  <a:latin typeface="Times New Roman"/>
                  <a:ea typeface="SimSun"/>
                  <a:cs typeface="Times New Roman"/>
                </a:rPr>
                <a:t>研究背景、文献依据与实验设计</a:t>
              </a:r>
            </a:p>
          </p:txBody>
        </p:sp>
      </p:grpSp>
      <p:grpSp>
        <p:nvGrpSpPr>
          <p:cNvPr id="13" name="cover-figure"/>
          <p:cNvGrpSpPr/>
          <p:nvPr/>
        </p:nvGrpSpPr>
        <p:grpSpPr>
          <a:xfrm>
            <a:off x="6477000" y="1390650"/>
            <a:ext cx="5257800" cy="4362450"/>
            <a:chOff x="6477000" y="1390650"/>
            <a:chExt cx="5257800" cy="4362450"/>
          </a:xfrm>
        </p:grpSpPr>
        <p:sp>
          <p:nvSpPr>
            <p:cNvPr id="9" name="Rectangle 9"/>
            <p:cNvSpPr/>
            <p:nvPr/>
          </p:nvSpPr>
          <p:spPr>
            <a:xfrm>
              <a:off x="6477000" y="1390650"/>
              <a:ext cx="5257800" cy="4362450"/>
            </a:xfrm>
            <a:prstGeom prst="roundRect">
              <a:avLst>
                <a:gd name="adj" fmla="val 3930"/>
              </a:avLst>
            </a:prstGeom>
            <a:solidFill>
              <a:srgbClr val="FFFFFF"/>
            </a:solidFill>
            <a:ln>
              <a:noFill/>
            </a:ln>
          </p:spPr>
        </p:sp>
        <p:sp>
          <p:nvSpPr>
            <p:cNvPr id="10" name="TextBox 10"/>
            <p:cNvSpPr txBox="1"/>
            <p:nvPr/>
          </p:nvSpPr>
          <p:spPr>
            <a:xfrm>
              <a:off x="8023784" y="1597025"/>
              <a:ext cx="2164232" cy="322707"/>
            </a:xfrm>
            <a:prstGeom prst="rect">
              <a:avLst/>
            </a:prstGeom>
            <a:noFill/>
            <a:ln>
              <a:noFill/>
            </a:ln>
          </p:spPr>
          <p:txBody>
            <a:bodyPr wrap="none" lIns="0" tIns="0" rIns="0" bIns="0" anchor="t" anchorCtr="0">
              <a:spAutoFit/>
            </a:bodyPr>
            <a:lstStyle/>
            <a:p>
              <a:pPr algn="ctr"/>
              <a:r>
                <a:rPr lang="zh-CN" sz="1650" dirty="0">
                  <a:solidFill>
                    <a:srgbClr val="075E45"/>
                  </a:solidFill>
                  <a:latin typeface="Times New Roman"/>
                  <a:ea typeface="SimSun"/>
                  <a:cs typeface="Times New Roman"/>
                </a:rPr>
                <a:t>上皮屏障 × 巨噬细胞</a:t>
              </a:r>
            </a:p>
          </p:txBody>
        </p:sp>
        <p:pic>
          <p:nvPicPr>
            <p:cNvPr id="11" name="Image 11"/>
            <p:cNvPicPr>
              <a:picLocks noChangeAspect="1"/>
            </p:cNvPicPr>
            <p:nvPr/>
          </p:nvPicPr>
          <p:blipFill>
            <a:blip r:embed="rId4"/>
            <a:stretch>
              <a:fillRect/>
            </a:stretch>
          </p:blipFill>
          <p:spPr>
            <a:xfrm>
              <a:off x="6724650" y="2000250"/>
              <a:ext cx="4762500" cy="3174997"/>
            </a:xfrm>
            <a:prstGeom prst="rect">
              <a:avLst/>
            </a:prstGeom>
          </p:spPr>
        </p:pic>
        <p:sp>
          <p:nvSpPr>
            <p:cNvPr id="12" name="TextBox 12"/>
            <p:cNvSpPr txBox="1"/>
            <p:nvPr/>
          </p:nvSpPr>
          <p:spPr>
            <a:xfrm>
              <a:off x="7391400" y="5295900"/>
              <a:ext cx="3429000" cy="293370"/>
            </a:xfrm>
            <a:prstGeom prst="rect">
              <a:avLst/>
            </a:prstGeom>
            <a:noFill/>
            <a:ln>
              <a:noFill/>
            </a:ln>
          </p:spPr>
          <p:txBody>
            <a:bodyPr wrap="none" lIns="0" tIns="0" rIns="0" bIns="0" anchor="t" anchorCtr="0">
              <a:spAutoFit/>
            </a:bodyPr>
            <a:lstStyle/>
            <a:p>
              <a:pPr algn="ctr"/>
              <a:r>
                <a:rPr lang="zh-CN" sz="1500" dirty="0">
                  <a:solidFill>
                    <a:srgbClr val="52615D"/>
                  </a:solidFill>
                  <a:latin typeface="Times New Roman"/>
                  <a:ea typeface="SimSun"/>
                  <a:cs typeface="Times New Roman"/>
                </a:rPr>
                <a:t>围绕条件培养基转移开展分阶段验证</a:t>
              </a:r>
            </a:p>
          </p:txBody>
        </p:sp>
      </p:grpSp>
      <p:grpSp>
        <p:nvGrpSpPr>
          <p:cNvPr id="16" name="cover-footer"/>
          <p:cNvGrpSpPr/>
          <p:nvPr/>
        </p:nvGrpSpPr>
        <p:grpSpPr>
          <a:xfrm>
            <a:off x="525018" y="5588000"/>
            <a:ext cx="3020873" cy="751332"/>
            <a:chOff x="525018" y="5588000"/>
            <a:chExt cx="3020873" cy="751332"/>
          </a:xfrm>
        </p:grpSpPr>
        <p:sp>
          <p:nvSpPr>
            <p:cNvPr id="14" name="TextBox 14"/>
            <p:cNvSpPr txBox="1"/>
            <p:nvPr/>
          </p:nvSpPr>
          <p:spPr>
            <a:xfrm>
              <a:off x="525018" y="5588000"/>
              <a:ext cx="3020873" cy="322707"/>
            </a:xfrm>
            <a:prstGeom prst="rect">
              <a:avLst/>
            </a:prstGeom>
            <a:noFill/>
            <a:ln>
              <a:noFill/>
            </a:ln>
          </p:spPr>
          <p:txBody>
            <a:bodyPr wrap="none" lIns="0" tIns="0" rIns="0" bIns="0" anchor="t" anchorCtr="0">
              <a:spAutoFit/>
            </a:bodyPr>
            <a:lstStyle/>
            <a:p>
              <a:pPr algn="l"/>
              <a:r>
                <a:rPr lang="zh-CN" sz="1650" dirty="0">
                  <a:solidFill>
                    <a:srgbClr val="52615D"/>
                  </a:solidFill>
                  <a:latin typeface="Times New Roman"/>
                  <a:ea typeface="SimSun"/>
                  <a:cs typeface="Times New Roman"/>
                </a:rPr>
                <a:t>汇报人：________________</a:t>
              </a:r>
            </a:p>
          </p:txBody>
        </p:sp>
        <p:sp>
          <p:nvSpPr>
            <p:cNvPr id="15" name="TextBox 15"/>
            <p:cNvSpPr txBox="1"/>
            <p:nvPr/>
          </p:nvSpPr>
          <p:spPr>
            <a:xfrm>
              <a:off x="525018" y="6016625"/>
              <a:ext cx="2997403" cy="322707"/>
            </a:xfrm>
            <a:prstGeom prst="rect">
              <a:avLst/>
            </a:prstGeom>
            <a:noFill/>
            <a:ln>
              <a:noFill/>
            </a:ln>
          </p:spPr>
          <p:txBody>
            <a:bodyPr wrap="none" lIns="0" tIns="0" rIns="0" bIns="0" anchor="t" anchorCtr="0">
              <a:spAutoFit/>
            </a:bodyPr>
            <a:lstStyle/>
            <a:p>
              <a:pPr algn="l"/>
              <a:r>
                <a:rPr lang="zh-CN" sz="1650" dirty="0">
                  <a:solidFill>
                    <a:srgbClr val="52615D"/>
                  </a:solidFill>
                  <a:latin typeface="Times New Roman"/>
                  <a:ea typeface="SimSun"/>
                  <a:cs typeface="Times New Roman"/>
                </a:rPr>
                <a:t>汇报日期：______________</a:t>
              </a:r>
            </a:p>
          </p:txBody>
        </p:sp>
      </p:grpSp>
    </p:spTree>
  </p:cSld>
  <p:clrMapOvr>
    <a:masterClrMapping/>
  </p:clrMapOvr>
  <mc:AlternateContent>
    <mc:Choice Requires="p14">
      <p:transition p14:dur="400">
        <p:fade/>
      </p:transition>
    </mc:Choice>
    <mc:Fallback>
      <p:transition>
        <p:fade/>
      </p:transition>
    </mc:Fallback>
  </mc:AlternateContent>
</p:sld>
</file>

<file path=ppt/theme/theme1.xml><?xml version="1.0" encoding="utf-8"?>
<a:theme xmlns:a="http://schemas.openxmlformats.org/drawingml/2006/main" name="DSG2_Siglec_final">
  <a:themeElements>
    <a:clrScheme name="DSG2_Siglec_final">
      <a:dk1>
        <a:srgbClr val="18312E"/>
      </a:dk1>
      <a:lt1>
        <a:srgbClr val="F2F3F2"/>
      </a:lt1>
      <a:dk2>
        <a:srgbClr val="1F497D"/>
      </a:dk2>
      <a:lt2>
        <a:srgbClr val="FFFFFF"/>
      </a:lt2>
      <a:accent1>
        <a:srgbClr val="075E45"/>
      </a:accent1>
      <a:accent2>
        <a:srgbClr val="00A65A"/>
      </a:accent2>
      <a:accent3>
        <a:srgbClr val="B16C23"/>
      </a:accent3>
      <a:accent4>
        <a:srgbClr val="075E45"/>
      </a:accent4>
      <a:accent5>
        <a:srgbClr val="52615D"/>
      </a:accent5>
      <a:accent6>
        <a:srgbClr val="CAD7CF"/>
      </a:accent6>
      <a:hlink>
        <a:srgbClr val="00A65A"/>
      </a:hlink>
      <a:folHlink>
        <a:srgbClr val="B16C23"/>
      </a:folHlink>
    </a:clrScheme>
    <a:fontScheme name="DSG2_Siglec_final">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SimSun"/>
        <a:cs typeface="Times New Roman"/>
        <a:font script="Jpan" typeface="SimSun"/>
        <a:font script="Hang" typeface="SimSun"/>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SG2_Siglec_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SG2_Siglec_final">
  <a:themeElements>
    <a:clrScheme name="DSG2_Siglec_final">
      <a:dk1>
        <a:srgbClr val="18312E"/>
      </a:dk1>
      <a:lt1>
        <a:srgbClr val="F2F3F2"/>
      </a:lt1>
      <a:dk2>
        <a:srgbClr val="1F497D"/>
      </a:dk2>
      <a:lt2>
        <a:srgbClr val="FFFFFF"/>
      </a:lt2>
      <a:accent1>
        <a:srgbClr val="075E45"/>
      </a:accent1>
      <a:accent2>
        <a:srgbClr val="00A65A"/>
      </a:accent2>
      <a:accent3>
        <a:srgbClr val="B16C23"/>
      </a:accent3>
      <a:accent4>
        <a:srgbClr val="075E45"/>
      </a:accent4>
      <a:accent5>
        <a:srgbClr val="52615D"/>
      </a:accent5>
      <a:accent6>
        <a:srgbClr val="CAD7CF"/>
      </a:accent6>
      <a:hlink>
        <a:srgbClr val="00A65A"/>
      </a:hlink>
      <a:folHlink>
        <a:srgbClr val="B16C23"/>
      </a:folHlink>
    </a:clrScheme>
    <a:fontScheme name="DSG2_Siglec_final">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SimSun"/>
        <a:cs typeface="Times New Roman"/>
        <a:font script="Jpan" typeface="SimSun"/>
        <a:font script="Hang" typeface="SimSun"/>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SG2_Siglec_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otalTime>0</ns0:TotalTime>
  <ns0:Words>6196</ns0:Words>
  <ns0:Application>WPS 演示</ns0:Application>
  <ns0:PresentationFormat>On-screen Show (16:9)</ns0:PresentationFormat>
  <ns0:Paragraphs>333</ns0:Paragraphs>
  <ns0:Slides>1</ns0:Slides>
  <ns0:Notes>0</ns0:Notes>
  <ns0:HiddenSlides>0</ns0:HiddenSlides>
  <ns0:MMClips>0</ns0:MMClips>
  <ns0:ScaleCrop>false</ns0:ScaleCrop>
  <ns0:HeadingPairs>
    <ns1:vector size="6" baseType="variant">
      <ns1:variant>
        <ns1:lpstr>已用的字体</ns1:lpstr>
      </ns1:variant>
      <ns1:variant>
        <ns1:i4>7</ns1:i4>
      </ns1:variant>
      <ns1:variant>
        <ns1:lpstr>主题</ns1:lpstr>
      </ns1:variant>
      <ns1:variant>
        <ns1:i4>1</ns1:i4>
      </ns1:variant>
      <ns1:variant>
        <ns1:lpstr>幻灯片标题</ns1:lpstr>
      </ns1:variant>
      <ns1:variant>
        <ns1:i4>16</ns1:i4>
      </ns1:variant>
    </ns1:vector>
  </ns0:HeadingPairs>
  <ns0:TitlesOfParts>
    <ns1:vector size="24" baseType="lpstr">
      <ns1:lpstr>Arial</ns1:lpstr>
      <ns1:lpstr>宋体</ns1:lpstr>
      <ns1:lpstr>Wingdings</ns1:lpstr>
      <ns1:lpstr>Arial</ns1:lpstr>
      <ns1:lpstr>Times New Roman</ns1:lpstr>
      <ns1:lpstr>微软雅黑</ns1:lpstr>
      <ns1:lpstr>Arial Unicode MS</ns1:lpstr>
      <ns1:lpstr>DSG2_Siglec_final</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vector>
  </ns0:TitlesOfParts>
  <ns0:LinksUpToDate>false</ns0:LinksUpToDate>
  <ns0:SharedDoc>false</ns0:SharedDoc>
  <ns0:HyperlinksChanged>false</ns0:HyperlinksChanged>
  <ns0:AppVersion>14.0000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笙</cp:lastModifiedBy>
  <cp:revision>3</cp:revision>
  <dcterms:created xsi:type="dcterms:W3CDTF">2026-10-15T13:49:00Z</dcterms:created>
  <dcterms:modified xsi:type="dcterms:W3CDTF">2026-10-16T02:10:54Z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8A80368BE0594BC591C7DEDF2DB263EA_13</vt:lpwstr>
  </property>
</Properties>
</file>